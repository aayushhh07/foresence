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5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AF11ECC-FF29-4BF4-A576-E4B0180EF727}"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BACDAF-D5B6-4BA1-97CA-D24BD1448118}" type="slidenum">
              <a:rPr lang="en-IN" smtClean="0"/>
              <a:t>‹#›</a:t>
            </a:fld>
            <a:endParaRPr lang="en-IN"/>
          </a:p>
        </p:txBody>
      </p:sp>
    </p:spTree>
    <p:extLst>
      <p:ext uri="{BB962C8B-B14F-4D97-AF65-F5344CB8AC3E}">
        <p14:creationId xmlns:p14="http://schemas.microsoft.com/office/powerpoint/2010/main" val="191900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AF11ECC-FF29-4BF4-A576-E4B0180EF727}"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BACDAF-D5B6-4BA1-97CA-D24BD1448118}" type="slidenum">
              <a:rPr lang="en-IN" smtClean="0"/>
              <a:t>‹#›</a:t>
            </a:fld>
            <a:endParaRPr lang="en-IN"/>
          </a:p>
        </p:txBody>
      </p:sp>
    </p:spTree>
    <p:extLst>
      <p:ext uri="{BB962C8B-B14F-4D97-AF65-F5344CB8AC3E}">
        <p14:creationId xmlns:p14="http://schemas.microsoft.com/office/powerpoint/2010/main" val="444089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AF11ECC-FF29-4BF4-A576-E4B0180EF727}"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BACDAF-D5B6-4BA1-97CA-D24BD1448118}" type="slidenum">
              <a:rPr lang="en-IN" smtClean="0"/>
              <a:t>‹#›</a:t>
            </a:fld>
            <a:endParaRPr lang="en-IN"/>
          </a:p>
        </p:txBody>
      </p:sp>
    </p:spTree>
    <p:extLst>
      <p:ext uri="{BB962C8B-B14F-4D97-AF65-F5344CB8AC3E}">
        <p14:creationId xmlns:p14="http://schemas.microsoft.com/office/powerpoint/2010/main" val="976054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AF11ECC-FF29-4BF4-A576-E4B0180EF727}" type="datetimeFigureOut">
              <a:rPr lang="en-IN" smtClean="0"/>
              <a:t>25-05-2026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BACDAF-D5B6-4BA1-97CA-D24BD1448118}" type="slidenum">
              <a:rPr lang="en-IN" smtClean="0"/>
              <a:t>‹#›</a:t>
            </a:fld>
            <a:endParaRPr lang="en-IN"/>
          </a:p>
        </p:txBody>
      </p:sp>
    </p:spTree>
    <p:extLst>
      <p:ext uri="{BB962C8B-B14F-4D97-AF65-F5344CB8AC3E}">
        <p14:creationId xmlns:p14="http://schemas.microsoft.com/office/powerpoint/2010/main" val="3010801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AF11ECC-FF29-4BF4-A576-E4B0180EF727}" type="datetimeFigureOut">
              <a:rPr lang="en-IN" smtClean="0"/>
              <a:t>25-05-2026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BBACDAF-D5B6-4BA1-97CA-D24BD1448118}" type="slidenum">
              <a:rPr lang="en-IN" smtClean="0"/>
              <a:t>‹#›</a:t>
            </a:fld>
            <a:endParaRPr lang="en-IN"/>
          </a:p>
        </p:txBody>
      </p:sp>
    </p:spTree>
    <p:extLst>
      <p:ext uri="{BB962C8B-B14F-4D97-AF65-F5344CB8AC3E}">
        <p14:creationId xmlns:p14="http://schemas.microsoft.com/office/powerpoint/2010/main" val="3656236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AF11ECC-FF29-4BF4-A576-E4B0180EF727}" type="datetimeFigureOut">
              <a:rPr lang="en-IN" smtClean="0"/>
              <a:t>25-05-2026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BBACDAF-D5B6-4BA1-97CA-D24BD1448118}" type="slidenum">
              <a:rPr lang="en-IN" smtClean="0"/>
              <a:t>‹#›</a:t>
            </a:fld>
            <a:endParaRPr lang="en-IN"/>
          </a:p>
        </p:txBody>
      </p:sp>
    </p:spTree>
    <p:extLst>
      <p:ext uri="{BB962C8B-B14F-4D97-AF65-F5344CB8AC3E}">
        <p14:creationId xmlns:p14="http://schemas.microsoft.com/office/powerpoint/2010/main" val="55108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F11ECC-FF29-4BF4-A576-E4B0180EF727}" type="datetimeFigureOut">
              <a:rPr lang="en-IN" smtClean="0"/>
              <a:t>25-05-2026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BBACDAF-D5B6-4BA1-97CA-D24BD1448118}" type="slidenum">
              <a:rPr lang="en-IN" smtClean="0"/>
              <a:t>‹#›</a:t>
            </a:fld>
            <a:endParaRPr lang="en-IN"/>
          </a:p>
        </p:txBody>
      </p:sp>
    </p:spTree>
    <p:extLst>
      <p:ext uri="{BB962C8B-B14F-4D97-AF65-F5344CB8AC3E}">
        <p14:creationId xmlns:p14="http://schemas.microsoft.com/office/powerpoint/2010/main" val="2028403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AF11ECC-FF29-4BF4-A576-E4B0180EF727}" type="datetimeFigureOut">
              <a:rPr lang="en-IN" smtClean="0"/>
              <a:t>25-05-2026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BACDAF-D5B6-4BA1-97CA-D24BD1448118}" type="slidenum">
              <a:rPr lang="en-IN" smtClean="0"/>
              <a:t>‹#›</a:t>
            </a:fld>
            <a:endParaRPr lang="en-IN"/>
          </a:p>
        </p:txBody>
      </p:sp>
    </p:spTree>
    <p:extLst>
      <p:ext uri="{BB962C8B-B14F-4D97-AF65-F5344CB8AC3E}">
        <p14:creationId xmlns:p14="http://schemas.microsoft.com/office/powerpoint/2010/main" val="1676275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AF11ECC-FF29-4BF4-A576-E4B0180EF727}" type="datetimeFigureOut">
              <a:rPr lang="en-IN" smtClean="0"/>
              <a:t>25-05-2026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BACDAF-D5B6-4BA1-97CA-D24BD1448118}" type="slidenum">
              <a:rPr lang="en-IN" smtClean="0"/>
              <a:t>‹#›</a:t>
            </a:fld>
            <a:endParaRPr lang="en-IN"/>
          </a:p>
        </p:txBody>
      </p:sp>
    </p:spTree>
    <p:extLst>
      <p:ext uri="{BB962C8B-B14F-4D97-AF65-F5344CB8AC3E}">
        <p14:creationId xmlns:p14="http://schemas.microsoft.com/office/powerpoint/2010/main" val="392742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AF11ECC-FF29-4BF4-A576-E4B0180EF727}"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BACDAF-D5B6-4BA1-97CA-D24BD1448118}" type="slidenum">
              <a:rPr lang="en-IN" smtClean="0"/>
              <a:t>‹#›</a:t>
            </a:fld>
            <a:endParaRPr lang="en-IN"/>
          </a:p>
        </p:txBody>
      </p:sp>
    </p:spTree>
    <p:extLst>
      <p:ext uri="{BB962C8B-B14F-4D97-AF65-F5344CB8AC3E}">
        <p14:creationId xmlns:p14="http://schemas.microsoft.com/office/powerpoint/2010/main" val="914977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AF11ECC-FF29-4BF4-A576-E4B0180EF727}" type="datetimeFigureOut">
              <a:rPr lang="en-IN" smtClean="0"/>
              <a:t>25-05-2026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BACDAF-D5B6-4BA1-97CA-D24BD1448118}" type="slidenum">
              <a:rPr lang="en-IN" smtClean="0"/>
              <a:t>‹#›</a:t>
            </a:fld>
            <a:endParaRPr lang="en-IN"/>
          </a:p>
        </p:txBody>
      </p:sp>
    </p:spTree>
    <p:extLst>
      <p:ext uri="{BB962C8B-B14F-4D97-AF65-F5344CB8AC3E}">
        <p14:creationId xmlns:p14="http://schemas.microsoft.com/office/powerpoint/2010/main" val="2163937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F11ECC-FF29-4BF4-A576-E4B0180EF727}" type="datetimeFigureOut">
              <a:rPr lang="en-IN" smtClean="0"/>
              <a:t>25-05-2026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BACDAF-D5B6-4BA1-97CA-D24BD1448118}" type="slidenum">
              <a:rPr lang="en-IN" smtClean="0"/>
              <a:t>‹#›</a:t>
            </a:fld>
            <a:endParaRPr lang="en-IN"/>
          </a:p>
        </p:txBody>
      </p:sp>
    </p:spTree>
    <p:extLst>
      <p:ext uri="{BB962C8B-B14F-4D97-AF65-F5344CB8AC3E}">
        <p14:creationId xmlns:p14="http://schemas.microsoft.com/office/powerpoint/2010/main" val="40205949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192000" cy="6857999"/>
          </a:xfrm>
          <a:prstGeom prst="rect">
            <a:avLst/>
          </a:prstGeom>
        </p:spPr>
      </p:pic>
      <p:sp>
        <p:nvSpPr>
          <p:cNvPr id="5" name="Rounded Rectangle 4"/>
          <p:cNvSpPr/>
          <p:nvPr/>
        </p:nvSpPr>
        <p:spPr>
          <a:xfrm>
            <a:off x="123092" y="5407270"/>
            <a:ext cx="2892669" cy="905607"/>
          </a:xfrm>
          <a:prstGeom prst="roundRect">
            <a:avLst>
              <a:gd name="adj" fmla="val 0"/>
            </a:avLst>
          </a:prstGeom>
          <a:solidFill>
            <a:schemeClr val="bg1">
              <a:lumMod val="95000"/>
            </a:schemeClr>
          </a:solidFill>
          <a:ln>
            <a:solidFill>
              <a:srgbClr val="F7F5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8792" y="5446780"/>
            <a:ext cx="3924088" cy="369332"/>
          </a:xfrm>
          <a:prstGeom prst="rect">
            <a:avLst/>
          </a:prstGeom>
          <a:noFill/>
        </p:spPr>
        <p:txBody>
          <a:bodyPr wrap="none" rtlCol="0">
            <a:spAutoFit/>
          </a:bodyPr>
          <a:lstStyle/>
          <a:p>
            <a:r>
              <a:rPr lang="en-US" dirty="0" err="1">
                <a:latin typeface="Times New Roman" panose="02020603050405020304" pitchFamily="18" charset="0"/>
                <a:cs typeface="Times New Roman" panose="02020603050405020304" pitchFamily="18" charset="0"/>
              </a:rPr>
              <a:t>Aayush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Vishwakarma</a:t>
            </a:r>
            <a:r>
              <a:rPr lang="en-US" dirty="0">
                <a:latin typeface="Times New Roman" panose="02020603050405020304" pitchFamily="18" charset="0"/>
                <a:cs typeface="Times New Roman" panose="02020603050405020304" pitchFamily="18" charset="0"/>
              </a:rPr>
              <a:t> (2200520100001)</a:t>
            </a:r>
            <a:endParaRPr lang="en-IN" dirty="0">
              <a:latin typeface="Times New Roman" panose="02020603050405020304" pitchFamily="18" charset="0"/>
              <a:cs typeface="Times New Roman" panose="02020603050405020304" pitchFamily="18" charset="0"/>
            </a:endParaRPr>
          </a:p>
        </p:txBody>
      </p:sp>
      <p:sp>
        <p:nvSpPr>
          <p:cNvPr id="7" name="TextBox 6"/>
          <p:cNvSpPr txBox="1"/>
          <p:nvPr/>
        </p:nvSpPr>
        <p:spPr>
          <a:xfrm>
            <a:off x="8792" y="5813830"/>
            <a:ext cx="3208442" cy="369332"/>
          </a:xfrm>
          <a:prstGeom prst="rect">
            <a:avLst/>
          </a:prstGeom>
          <a:noFill/>
        </p:spPr>
        <p:txBody>
          <a:bodyPr wrap="none" rtlCol="0">
            <a:spAutoFit/>
          </a:bodyPr>
          <a:lstStyle/>
          <a:p>
            <a:r>
              <a:rPr lang="en-US" dirty="0" err="1">
                <a:latin typeface="Times New Roman" panose="02020603050405020304" pitchFamily="18" charset="0"/>
                <a:cs typeface="Times New Roman" panose="02020603050405020304" pitchFamily="18" charset="0"/>
              </a:rPr>
              <a:t>Abhay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Sachan</a:t>
            </a:r>
            <a:r>
              <a:rPr lang="en-US" dirty="0">
                <a:latin typeface="Times New Roman" panose="02020603050405020304" pitchFamily="18" charset="0"/>
                <a:cs typeface="Times New Roman" panose="02020603050405020304" pitchFamily="18" charset="0"/>
              </a:rPr>
              <a:t> (2200520100003)</a:t>
            </a:r>
            <a:endParaRPr lang="en-IN" dirty="0">
              <a:latin typeface="Times New Roman" panose="02020603050405020304" pitchFamily="18" charset="0"/>
              <a:cs typeface="Times New Roman" panose="02020603050405020304" pitchFamily="18" charset="0"/>
            </a:endParaRPr>
          </a:p>
        </p:txBody>
      </p:sp>
      <p:sp>
        <p:nvSpPr>
          <p:cNvPr id="8" name="TextBox 7"/>
          <p:cNvSpPr txBox="1"/>
          <p:nvPr/>
        </p:nvSpPr>
        <p:spPr>
          <a:xfrm>
            <a:off x="8792" y="6101749"/>
            <a:ext cx="2999539" cy="369332"/>
          </a:xfrm>
          <a:prstGeom prst="rect">
            <a:avLst/>
          </a:prstGeom>
          <a:noFill/>
        </p:spPr>
        <p:txBody>
          <a:bodyPr wrap="none" rtlCol="0">
            <a:spAutoFit/>
          </a:bodyPr>
          <a:lstStyle/>
          <a:p>
            <a:r>
              <a:rPr lang="en-US" dirty="0" err="1">
                <a:latin typeface="Times New Roman" panose="02020603050405020304" pitchFamily="18" charset="0"/>
                <a:cs typeface="Times New Roman" panose="02020603050405020304" pitchFamily="18" charset="0"/>
              </a:rPr>
              <a:t>Jannu</a:t>
            </a:r>
            <a:r>
              <a:rPr lang="en-US" dirty="0">
                <a:latin typeface="Times New Roman" panose="02020603050405020304" pitchFamily="18" charset="0"/>
                <a:cs typeface="Times New Roman" panose="02020603050405020304" pitchFamily="18" charset="0"/>
              </a:rPr>
              <a:t> Hans (</a:t>
            </a:r>
            <a:r>
              <a:rPr lang="en-US" altLang="en-US" dirty="0">
                <a:latin typeface="Times New Roman" panose="02020603050405020304" pitchFamily="18" charset="0"/>
                <a:ea typeface="Times New Roman" panose="02020603050405020304" pitchFamily="18" charset="0"/>
                <a:cs typeface="Times New Roman" panose="02020603050405020304" pitchFamily="18" charset="0"/>
              </a:rPr>
              <a:t>2200520100031)</a:t>
            </a:r>
            <a:r>
              <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0" name="Rectangle 9"/>
          <p:cNvSpPr/>
          <p:nvPr/>
        </p:nvSpPr>
        <p:spPr>
          <a:xfrm>
            <a:off x="1341507" y="402204"/>
            <a:ext cx="9771969" cy="7913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1812574" y="459168"/>
            <a:ext cx="9091528" cy="584775"/>
          </a:xfrm>
          <a:prstGeom prst="rect">
            <a:avLst/>
          </a:prstGeom>
        </p:spPr>
        <p:txBody>
          <a:bodyPr wrap="none">
            <a:spAutoFit/>
          </a:bodyPr>
          <a:lstStyle/>
          <a:p>
            <a:r>
              <a:rPr lang="en-IN" sz="3200" b="1" dirty="0" err="1">
                <a:latin typeface="Times New Roman" panose="02020603050405020304" pitchFamily="18" charset="0"/>
                <a:ea typeface="Times New Roman" panose="02020603050405020304" pitchFamily="18" charset="0"/>
              </a:rPr>
              <a:t>DeforSense</a:t>
            </a:r>
            <a:r>
              <a:rPr lang="en-IN" sz="3200" b="1" dirty="0">
                <a:latin typeface="Times New Roman" panose="02020603050405020304" pitchFamily="18" charset="0"/>
                <a:ea typeface="Times New Roman" panose="02020603050405020304" pitchFamily="18" charset="0"/>
              </a:rPr>
              <a:t>: Illegal Deforestation Detection System</a:t>
            </a:r>
            <a:endParaRPr lang="en-IN" sz="3200" b="1" dirty="0"/>
          </a:p>
        </p:txBody>
      </p:sp>
      <p:sp>
        <p:nvSpPr>
          <p:cNvPr id="13" name="Rectangle 12"/>
          <p:cNvSpPr/>
          <p:nvPr/>
        </p:nvSpPr>
        <p:spPr>
          <a:xfrm>
            <a:off x="9609992" y="5758962"/>
            <a:ext cx="2198077" cy="7209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p:cNvSpPr txBox="1"/>
          <p:nvPr/>
        </p:nvSpPr>
        <p:spPr>
          <a:xfrm>
            <a:off x="9930118" y="5640125"/>
            <a:ext cx="1685077"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Prof. M H Khan</a:t>
            </a:r>
            <a:endParaRPr lang="en-IN"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9811465" y="6009457"/>
            <a:ext cx="1755737"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Dr. Aditi Sharma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1132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6147" y="95944"/>
            <a:ext cx="6686990" cy="6260346"/>
          </a:xfrm>
          <a:prstGeom prst="rect">
            <a:avLst/>
          </a:prstGeom>
        </p:spPr>
      </p:pic>
    </p:spTree>
    <p:extLst>
      <p:ext uri="{BB962C8B-B14F-4D97-AF65-F5344CB8AC3E}">
        <p14:creationId xmlns:p14="http://schemas.microsoft.com/office/powerpoint/2010/main" val="1909215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65993" y="615464"/>
            <a:ext cx="10911254" cy="483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334109" y="707784"/>
            <a:ext cx="11605846" cy="646331"/>
          </a:xfrm>
          <a:prstGeom prst="rect">
            <a:avLst/>
          </a:prstGeom>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Forest monitoring is a critical component of environmental management, used for tracking ecosystem health, biodiversity conservation, and climate change mitigation.</a:t>
            </a:r>
            <a:endParaRPr lang="en-IN" dirty="0">
              <a:latin typeface="Times New Roman" panose="02020603050405020304" pitchFamily="18" charset="0"/>
              <a:cs typeface="Times New Roman" panose="02020603050405020304" pitchFamily="18" charset="0"/>
            </a:endParaRPr>
          </a:p>
        </p:txBody>
      </p:sp>
      <p:sp>
        <p:nvSpPr>
          <p:cNvPr id="8" name="TextBox 7"/>
          <p:cNvSpPr txBox="1"/>
          <p:nvPr/>
        </p:nvSpPr>
        <p:spPr>
          <a:xfrm>
            <a:off x="4633547" y="2813542"/>
            <a:ext cx="184731" cy="369332"/>
          </a:xfrm>
          <a:prstGeom prst="rect">
            <a:avLst/>
          </a:prstGeom>
          <a:noFill/>
        </p:spPr>
        <p:txBody>
          <a:bodyPr wrap="none" rtlCol="0">
            <a:spAutoFit/>
          </a:bodyPr>
          <a:lstStyle/>
          <a:p>
            <a:endParaRPr lang="en-IN" dirty="0"/>
          </a:p>
        </p:txBody>
      </p:sp>
      <p:sp>
        <p:nvSpPr>
          <p:cNvPr id="10" name="Rectangle 9"/>
          <p:cNvSpPr/>
          <p:nvPr/>
        </p:nvSpPr>
        <p:spPr>
          <a:xfrm>
            <a:off x="4436117" y="-22472"/>
            <a:ext cx="2971006" cy="707886"/>
          </a:xfrm>
          <a:prstGeom prst="rect">
            <a:avLst/>
          </a:prstGeom>
        </p:spPr>
        <p:txBody>
          <a:bodyPr wrap="none">
            <a:spAutoFit/>
          </a:bodyPr>
          <a:lstStyle/>
          <a:p>
            <a:r>
              <a:rPr lang="en-US" sz="4000" b="1" dirty="0">
                <a:latin typeface="Times New Roman" panose="02020603050405020304" pitchFamily="18" charset="0"/>
                <a:cs typeface="Times New Roman" panose="02020603050405020304" pitchFamily="18" charset="0"/>
              </a:rPr>
              <a:t>Introduction</a:t>
            </a:r>
            <a:endParaRPr lang="en-IN" sz="4000" b="1" dirty="0">
              <a:latin typeface="Times New Roman" panose="02020603050405020304" pitchFamily="18" charset="0"/>
              <a:cs typeface="Times New Roman" panose="02020603050405020304" pitchFamily="18" charset="0"/>
            </a:endParaRPr>
          </a:p>
        </p:txBody>
      </p:sp>
      <p:sp>
        <p:nvSpPr>
          <p:cNvPr id="11" name="Rectangle 10"/>
          <p:cNvSpPr/>
          <p:nvPr/>
        </p:nvSpPr>
        <p:spPr>
          <a:xfrm>
            <a:off x="594946" y="1432274"/>
            <a:ext cx="11186747" cy="1754326"/>
          </a:xfrm>
          <a:prstGeom prst="rect">
            <a:avLst/>
          </a:prstGeom>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methods such as ground surveys, manual inspections, and periodic reporting suffer from:</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Limited coverage over large or remote areas </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operational cost and time consumption </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Delayed detection of deforestation activities </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Human errors and subjectivity </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Lack of continuous, real-time monitoring</a:t>
            </a:r>
          </a:p>
        </p:txBody>
      </p:sp>
      <p:sp>
        <p:nvSpPr>
          <p:cNvPr id="14" name="Rectangle 13"/>
          <p:cNvSpPr/>
          <p:nvPr/>
        </p:nvSpPr>
        <p:spPr>
          <a:xfrm>
            <a:off x="325317" y="2919107"/>
            <a:ext cx="11447584" cy="3970318"/>
          </a:xfrm>
          <a:prstGeom prst="rect">
            <a:avLst/>
          </a:prstGeom>
        </p:spPr>
        <p:txBody>
          <a:bodyPr wrap="square">
            <a:spAutoFit/>
          </a:bodyPr>
          <a:lstStyle/>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With advancements in satellite technology and geospatial analysis, remote sensing has become a powerful tool for large-scale environmental monitoring. </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Vegetation indices like NDVI (Normalized Difference Vegetation Index) enable efficient detection of forest cover and changes over time. </a:t>
            </a:r>
          </a:p>
          <a:p>
            <a:pPr lvl="1"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However, basic threshold-based approaches may face challenges such as: </a:t>
            </a:r>
          </a:p>
          <a:p>
            <a:pPr lvl="2"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Cloud cover interference </a:t>
            </a:r>
          </a:p>
          <a:p>
            <a:pPr lvl="2"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Seasonal vegetation variations </a:t>
            </a:r>
          </a:p>
          <a:p>
            <a:pPr lvl="2"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Noise in satellite imagery </a:t>
            </a:r>
          </a:p>
          <a:p>
            <a:pPr lvl="2"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Difficulty distinguishing natural vs human-induced changes </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This project proposes </a:t>
            </a:r>
            <a:r>
              <a:rPr lang="en-US" altLang="en-US" b="1" dirty="0" err="1">
                <a:latin typeface="Times New Roman" panose="02020603050405020304" pitchFamily="18" charset="0"/>
                <a:cs typeface="Times New Roman" panose="02020603050405020304" pitchFamily="18" charset="0"/>
              </a:rPr>
              <a:t>DeforSense</a:t>
            </a:r>
            <a:r>
              <a:rPr lang="en-US" altLang="en-US" dirty="0">
                <a:latin typeface="Times New Roman" panose="02020603050405020304" pitchFamily="18" charset="0"/>
                <a:cs typeface="Times New Roman" panose="02020603050405020304" pitchFamily="18" charset="0"/>
              </a:rPr>
              <a:t>, a Satellite-Based Illegal Deforestation Detection System that integrates: </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Satellite imagery processing using Google Earth Engine </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NDVI-based vegetation analysis </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Temporal change detection techniques </a:t>
            </a:r>
          </a:p>
        </p:txBody>
      </p:sp>
    </p:spTree>
    <p:extLst>
      <p:ext uri="{BB962C8B-B14F-4D97-AF65-F5344CB8AC3E}">
        <p14:creationId xmlns:p14="http://schemas.microsoft.com/office/powerpoint/2010/main" val="922127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47178" y="0"/>
            <a:ext cx="2608406" cy="707886"/>
          </a:xfrm>
          <a:prstGeom prst="rect">
            <a:avLst/>
          </a:prstGeom>
        </p:spPr>
        <p:txBody>
          <a:bodyPr wrap="none">
            <a:spAutoFit/>
          </a:bodyPr>
          <a:lstStyle/>
          <a:p>
            <a:r>
              <a:rPr lang="en-US" sz="4000" b="1" dirty="0">
                <a:latin typeface="Times New Roman" panose="02020603050405020304" pitchFamily="18" charset="0"/>
                <a:cs typeface="Times New Roman" panose="02020603050405020304" pitchFamily="18" charset="0"/>
              </a:rPr>
              <a:t>Motivation</a:t>
            </a:r>
            <a:endParaRPr lang="en-IN" sz="4000" b="1" dirty="0">
              <a:latin typeface="Times New Roman" panose="02020603050405020304" pitchFamily="18" charset="0"/>
              <a:cs typeface="Times New Roman" panose="02020603050405020304" pitchFamily="18" charset="0"/>
            </a:endParaRPr>
          </a:p>
        </p:txBody>
      </p:sp>
      <p:sp>
        <p:nvSpPr>
          <p:cNvPr id="5" name="Rectangle 4"/>
          <p:cNvSpPr/>
          <p:nvPr/>
        </p:nvSpPr>
        <p:spPr>
          <a:xfrm>
            <a:off x="304800" y="969221"/>
            <a:ext cx="6096000" cy="1754326"/>
          </a:xfrm>
          <a:prstGeom prst="rect">
            <a:avLst/>
          </a:prstGeom>
        </p:spPr>
        <p:txBody>
          <a:bodyPr>
            <a:spAutoFit/>
          </a:bodyPr>
          <a:lstStyle/>
          <a:p>
            <a:pPr marL="285750" indent="-285750">
              <a:buFont typeface="Arial" panose="020B0604020202020204" pitchFamily="34" charset="0"/>
              <a:buChar char="•"/>
            </a:pPr>
            <a:r>
              <a:rPr lang="en-US" dirty="0"/>
              <a:t>Traditional forest monitoring methods are often inefficient and limited in effectiveness, leading to:</a:t>
            </a:r>
          </a:p>
          <a:p>
            <a:pPr lvl="1">
              <a:buFont typeface="Arial" panose="020B0604020202020204" pitchFamily="34" charset="0"/>
              <a:buChar char="•"/>
            </a:pPr>
            <a:r>
              <a:rPr lang="en-US" dirty="0"/>
              <a:t>Delayed detection of deforestation activities </a:t>
            </a:r>
          </a:p>
          <a:p>
            <a:pPr lvl="1">
              <a:buFont typeface="Arial" panose="020B0604020202020204" pitchFamily="34" charset="0"/>
              <a:buChar char="•"/>
            </a:pPr>
            <a:r>
              <a:rPr lang="en-US" dirty="0"/>
              <a:t>Heavy reliance on manual surveys and reporting </a:t>
            </a:r>
          </a:p>
          <a:p>
            <a:pPr lvl="1">
              <a:buFont typeface="Arial" panose="020B0604020202020204" pitchFamily="34" charset="0"/>
              <a:buChar char="•"/>
            </a:pPr>
            <a:r>
              <a:rPr lang="en-US" dirty="0"/>
              <a:t>Incomplete or inaccurate environmental records </a:t>
            </a:r>
          </a:p>
          <a:p>
            <a:pPr lvl="1">
              <a:buFont typeface="Arial" panose="020B0604020202020204" pitchFamily="34" charset="0"/>
              <a:buChar char="•"/>
            </a:pPr>
            <a:r>
              <a:rPr lang="en-US" dirty="0"/>
              <a:t>Lack of continuous, real-time monitoring</a:t>
            </a:r>
          </a:p>
        </p:txBody>
      </p:sp>
      <p:sp>
        <p:nvSpPr>
          <p:cNvPr id="6" name="Rectangle 5"/>
          <p:cNvSpPr/>
          <p:nvPr/>
        </p:nvSpPr>
        <p:spPr>
          <a:xfrm>
            <a:off x="304800" y="2984882"/>
            <a:ext cx="6096000" cy="1754326"/>
          </a:xfrm>
          <a:prstGeom prst="rect">
            <a:avLst/>
          </a:prstGeom>
        </p:spPr>
        <p:txBody>
          <a:bodyPr>
            <a:spAutoFit/>
          </a:bodyPr>
          <a:lstStyle/>
          <a:p>
            <a:pPr marL="285750" indent="-285750">
              <a:buFont typeface="Arial" panose="020B0604020202020204" pitchFamily="34" charset="0"/>
              <a:buChar char="•"/>
            </a:pPr>
            <a:r>
              <a:rPr lang="en-US" dirty="0"/>
              <a:t>Large forest areas are difficult to supervise consistently, making them vulnerable to:</a:t>
            </a:r>
          </a:p>
          <a:p>
            <a:pPr lvl="1">
              <a:buFont typeface="Arial" panose="020B0604020202020204" pitchFamily="34" charset="0"/>
              <a:buChar char="•"/>
            </a:pPr>
            <a:r>
              <a:rPr lang="en-US" dirty="0"/>
              <a:t>Illegal logging in remote regions </a:t>
            </a:r>
          </a:p>
          <a:p>
            <a:pPr lvl="1">
              <a:buFont typeface="Arial" panose="020B0604020202020204" pitchFamily="34" charset="0"/>
              <a:buChar char="•"/>
            </a:pPr>
            <a:r>
              <a:rPr lang="en-US" dirty="0"/>
              <a:t>Gradual land clearing for agriculture or urban expansion </a:t>
            </a:r>
          </a:p>
          <a:p>
            <a:pPr lvl="1">
              <a:buFont typeface="Arial" panose="020B0604020202020204" pitchFamily="34" charset="0"/>
              <a:buChar char="•"/>
            </a:pPr>
            <a:r>
              <a:rPr lang="en-US" dirty="0"/>
              <a:t>Undetected environmental degradation </a:t>
            </a:r>
          </a:p>
          <a:p>
            <a:pPr lvl="1">
              <a:buFont typeface="Arial" panose="020B0604020202020204" pitchFamily="34" charset="0"/>
              <a:buChar char="•"/>
            </a:pPr>
            <a:r>
              <a:rPr lang="en-US" dirty="0"/>
              <a:t>Delayed response to critical changes</a:t>
            </a:r>
          </a:p>
        </p:txBody>
      </p:sp>
      <p:sp>
        <p:nvSpPr>
          <p:cNvPr id="7" name="Rectangle 6"/>
          <p:cNvSpPr/>
          <p:nvPr/>
        </p:nvSpPr>
        <p:spPr>
          <a:xfrm>
            <a:off x="304800" y="5000543"/>
            <a:ext cx="6096000" cy="923330"/>
          </a:xfrm>
          <a:prstGeom prst="rect">
            <a:avLst/>
          </a:prstGeom>
        </p:spPr>
        <p:txBody>
          <a:bodyPr>
            <a:spAutoFit/>
          </a:bodyPr>
          <a:lstStyle/>
          <a:p>
            <a:pPr marL="285750" indent="-285750">
              <a:buFont typeface="Arial" panose="020B0604020202020204" pitchFamily="34" charset="0"/>
              <a:buChar char="•"/>
            </a:pPr>
            <a:r>
              <a:rPr lang="en-US" dirty="0"/>
              <a:t>Environmental agencies and organizations require a modern, scalable, and automated solution that ensures timely detection and monitoring of forest changes.</a:t>
            </a:r>
            <a:endParaRPr lang="en-IN" dirty="0"/>
          </a:p>
        </p:txBody>
      </p:sp>
      <p:cxnSp>
        <p:nvCxnSpPr>
          <p:cNvPr id="9" name="Straight Connector 8"/>
          <p:cNvCxnSpPr/>
          <p:nvPr/>
        </p:nvCxnSpPr>
        <p:spPr>
          <a:xfrm>
            <a:off x="6699740" y="835269"/>
            <a:ext cx="0" cy="542485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6855069" y="1246219"/>
            <a:ext cx="5225561" cy="1200329"/>
          </a:xfrm>
          <a:prstGeom prst="rect">
            <a:avLst/>
          </a:prstGeom>
        </p:spPr>
        <p:txBody>
          <a:bodyPr wrap="square">
            <a:spAutoFit/>
          </a:bodyPr>
          <a:lstStyle/>
          <a:p>
            <a:pPr marL="285750" indent="-285750">
              <a:buFont typeface="Arial" panose="020B0604020202020204" pitchFamily="34" charset="0"/>
              <a:buChar char="•"/>
            </a:pPr>
            <a:r>
              <a:rPr lang="en-US" dirty="0"/>
              <a:t>Environmental agencies and organizations require a modern, scalable, and automated solution that ensures timely detection and monitoring of forest changes.</a:t>
            </a:r>
            <a:endParaRPr lang="en-IN" dirty="0"/>
          </a:p>
        </p:txBody>
      </p:sp>
      <p:sp>
        <p:nvSpPr>
          <p:cNvPr id="11" name="Rectangle 10"/>
          <p:cNvSpPr/>
          <p:nvPr/>
        </p:nvSpPr>
        <p:spPr>
          <a:xfrm>
            <a:off x="6855069" y="2886204"/>
            <a:ext cx="1599412" cy="369332"/>
          </a:xfrm>
          <a:prstGeom prst="rect">
            <a:avLst/>
          </a:prstGeom>
        </p:spPr>
        <p:txBody>
          <a:bodyPr wrap="none">
            <a:spAutoFit/>
          </a:bodyPr>
          <a:lstStyle/>
          <a:p>
            <a:pPr marL="285750" indent="-285750">
              <a:buFont typeface="Arial" panose="020B0604020202020204" pitchFamily="34" charset="0"/>
              <a:buChar char="•"/>
            </a:pPr>
            <a:r>
              <a:rPr lang="en-IN" b="1" dirty="0"/>
              <a:t>Motivation:</a:t>
            </a:r>
          </a:p>
        </p:txBody>
      </p:sp>
      <p:sp>
        <p:nvSpPr>
          <p:cNvPr id="12" name="Rectangle 11"/>
          <p:cNvSpPr/>
          <p:nvPr/>
        </p:nvSpPr>
        <p:spPr>
          <a:xfrm>
            <a:off x="7167660" y="3624855"/>
            <a:ext cx="4772294" cy="1477328"/>
          </a:xfrm>
          <a:prstGeom prst="rect">
            <a:avLst/>
          </a:prstGeom>
        </p:spPr>
        <p:txBody>
          <a:bodyPr wrap="square">
            <a:spAutoFit/>
          </a:bodyPr>
          <a:lstStyle/>
          <a:p>
            <a:r>
              <a:rPr lang="en-US" dirty="0"/>
              <a:t>To develop a reliable, automated, and scalable deforestation monitoring platform that enables early detection of vegetation loss, improves accuracy, and supports effective environmental protection and decision-making.</a:t>
            </a:r>
            <a:endParaRPr lang="en-IN" dirty="0"/>
          </a:p>
        </p:txBody>
      </p:sp>
    </p:spTree>
    <p:extLst>
      <p:ext uri="{BB962C8B-B14F-4D97-AF65-F5344CB8AC3E}">
        <p14:creationId xmlns:p14="http://schemas.microsoft.com/office/powerpoint/2010/main" val="1076895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7363" y="96689"/>
            <a:ext cx="6498574" cy="646331"/>
          </a:xfrm>
          <a:prstGeom prst="rect">
            <a:avLst/>
          </a:prstGeom>
        </p:spPr>
        <p:txBody>
          <a:bodyPr wrap="none">
            <a:spAutoFit/>
          </a:bodyPr>
          <a:lstStyle/>
          <a:p>
            <a:r>
              <a:rPr lang="en-IN" sz="3600" b="1" dirty="0">
                <a:latin typeface="Times New Roman" panose="02020603050405020304" pitchFamily="18" charset="0"/>
                <a:cs typeface="Times New Roman" panose="02020603050405020304" pitchFamily="18" charset="0"/>
              </a:rPr>
              <a:t>Objective &amp; Problem Statement</a:t>
            </a:r>
          </a:p>
        </p:txBody>
      </p:sp>
      <p:sp>
        <p:nvSpPr>
          <p:cNvPr id="8" name="Rectangle 7"/>
          <p:cNvSpPr/>
          <p:nvPr/>
        </p:nvSpPr>
        <p:spPr>
          <a:xfrm>
            <a:off x="319306" y="756113"/>
            <a:ext cx="4036361"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The main objectives of this project are:</a:t>
            </a:r>
            <a:endParaRPr lang="en-IN" b="1" dirty="0">
              <a:latin typeface="Times New Roman" panose="02020603050405020304" pitchFamily="18" charset="0"/>
              <a:cs typeface="Times New Roman" panose="02020603050405020304" pitchFamily="18" charset="0"/>
            </a:endParaRPr>
          </a:p>
        </p:txBody>
      </p:sp>
      <p:sp>
        <p:nvSpPr>
          <p:cNvPr id="13" name="Rectangle 1"/>
          <p:cNvSpPr>
            <a:spLocks noChangeArrowheads="1"/>
          </p:cNvSpPr>
          <p:nvPr/>
        </p:nvSpPr>
        <p:spPr bwMode="auto">
          <a:xfrm>
            <a:off x="518746" y="756113"/>
            <a:ext cx="11101116"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 an AI-driven system for detecting deforestation using satellite imagery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Implement NDVI-based vegetation analysis for identifying forest cover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Detect temporal changes in vegetation using multi-date satellite data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Identify and flag regions with significant vegetation loss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Provide an interactive platform for visualizing deforestation patterns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Enable automated, scalable, and near real-time monitoring of large forest areas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Maintain a centralized database for storing alerts, regions, and analysis results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 accuracy and efficiency in detecting potential illegal deforestation activities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Support future enhancements such as machine learning-based land classification and advanced analytics </a:t>
            </a:r>
          </a:p>
        </p:txBody>
      </p:sp>
      <p:sp>
        <p:nvSpPr>
          <p:cNvPr id="14" name="Rectangle 13"/>
          <p:cNvSpPr/>
          <p:nvPr/>
        </p:nvSpPr>
        <p:spPr>
          <a:xfrm>
            <a:off x="319306" y="5440379"/>
            <a:ext cx="11350869" cy="1200329"/>
          </a:xfrm>
          <a:prstGeom prst="rect">
            <a:avLst/>
          </a:prstGeom>
        </p:spPr>
        <p:txBody>
          <a:bodyPr wrap="square">
            <a:spAutoFit/>
          </a:bodyPr>
          <a:lstStyle/>
          <a:p>
            <a:r>
              <a:rPr lang="en-US" dirty="0"/>
              <a:t>Existing forest monitoring systems lack a fast, scalable, and automated approach to accurately detect and analyze deforestation. They often fail to provide timely insights, struggle with large-scale coverage, and cannot effectively distinguish significant vegetation loss. There is a need for an intelligent system that can continuously monitor forests, detect changes using satellite data, and provide actionable insights through a modern and user-friendly platform</a:t>
            </a:r>
            <a:endParaRPr lang="en-IN" dirty="0"/>
          </a:p>
        </p:txBody>
      </p:sp>
      <p:sp>
        <p:nvSpPr>
          <p:cNvPr id="15" name="Rectangle 14"/>
          <p:cNvSpPr/>
          <p:nvPr/>
        </p:nvSpPr>
        <p:spPr>
          <a:xfrm>
            <a:off x="319306" y="5011590"/>
            <a:ext cx="2161810"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Problem Statement: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7570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STAR - Global Vegetation Health Products: NPP VIIRS Weekly Composite for Vegetation Health Product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19165" y="1006815"/>
            <a:ext cx="3917858" cy="147124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16877" y="646331"/>
            <a:ext cx="6096000" cy="276999"/>
          </a:xfrm>
          <a:prstGeom prst="rect">
            <a:avLst/>
          </a:prstGeom>
        </p:spPr>
        <p:txBody>
          <a:bodyPr>
            <a:spAutoFit/>
          </a:bodyPr>
          <a:lstStyle/>
          <a:p>
            <a:r>
              <a:rPr lang="en-IN" sz="1200" b="1" dirty="0">
                <a:latin typeface="Times New Roman" panose="02020603050405020304" pitchFamily="18" charset="0"/>
                <a:cs typeface="Times New Roman" panose="02020603050405020304" pitchFamily="18" charset="0"/>
              </a:rPr>
              <a:t>4.1 NDVI-Based Vegetation Change Detection Using Remote Sensing – Gandhi et al. (2015)</a:t>
            </a:r>
          </a:p>
        </p:txBody>
      </p:sp>
      <p:sp>
        <p:nvSpPr>
          <p:cNvPr id="6" name="Rectangle 5"/>
          <p:cNvSpPr/>
          <p:nvPr/>
        </p:nvSpPr>
        <p:spPr>
          <a:xfrm>
            <a:off x="3891425" y="0"/>
            <a:ext cx="3728585" cy="646331"/>
          </a:xfrm>
          <a:prstGeom prst="rect">
            <a:avLst/>
          </a:prstGeom>
        </p:spPr>
        <p:txBody>
          <a:bodyPr wrap="none">
            <a:spAutoFit/>
          </a:bodyPr>
          <a:lstStyle/>
          <a:p>
            <a:r>
              <a:rPr lang="en-IN" sz="3600" b="1" dirty="0">
                <a:latin typeface="Times New Roman" panose="02020603050405020304" pitchFamily="18" charset="0"/>
                <a:cs typeface="Times New Roman" panose="02020603050405020304" pitchFamily="18" charset="0"/>
              </a:rPr>
              <a:t>Literature Survey</a:t>
            </a:r>
          </a:p>
        </p:txBody>
      </p:sp>
      <p:sp>
        <p:nvSpPr>
          <p:cNvPr id="7" name="Rectangle 6"/>
          <p:cNvSpPr/>
          <p:nvPr/>
        </p:nvSpPr>
        <p:spPr>
          <a:xfrm>
            <a:off x="216877" y="1006815"/>
            <a:ext cx="6096000" cy="307777"/>
          </a:xfrm>
          <a:prstGeom prst="rect">
            <a:avLst/>
          </a:prstGeom>
        </p:spPr>
        <p:txBody>
          <a:bodyPr>
            <a:spAutoFit/>
          </a:bodyPr>
          <a:lstStyle/>
          <a:p>
            <a:r>
              <a:rPr lang="en-IN" sz="1400" b="1" dirty="0">
                <a:latin typeface="Times New Roman" panose="02020603050405020304" pitchFamily="18" charset="0"/>
                <a:cs typeface="Times New Roman" panose="02020603050405020304" pitchFamily="18" charset="0"/>
              </a:rPr>
              <a:t>Overview</a:t>
            </a:r>
          </a:p>
        </p:txBody>
      </p:sp>
      <p:sp>
        <p:nvSpPr>
          <p:cNvPr id="5" name="Rectangle 4"/>
          <p:cNvSpPr/>
          <p:nvPr/>
        </p:nvSpPr>
        <p:spPr>
          <a:xfrm>
            <a:off x="216877" y="1367299"/>
            <a:ext cx="7467600" cy="1169551"/>
          </a:xfrm>
          <a:prstGeom prst="rect">
            <a:avLst/>
          </a:prstGeom>
        </p:spPr>
        <p:txBody>
          <a:bodyPr wrap="square">
            <a:spAutoFit/>
          </a:bodyPr>
          <a:lstStyle/>
          <a:p>
            <a:r>
              <a:rPr lang="en-US" sz="1400" dirty="0">
                <a:latin typeface="Times New Roman" panose="02020603050405020304" pitchFamily="18" charset="0"/>
                <a:cs typeface="Times New Roman" panose="02020603050405020304" pitchFamily="18" charset="0"/>
              </a:rPr>
              <a:t>Gandhi et al. (2015) proposed a vegetation change detection method using the </a:t>
            </a:r>
            <a:r>
              <a:rPr lang="en-US" sz="1400" b="1" dirty="0">
                <a:latin typeface="Times New Roman" panose="02020603050405020304" pitchFamily="18" charset="0"/>
                <a:cs typeface="Times New Roman" panose="02020603050405020304" pitchFamily="18" charset="0"/>
              </a:rPr>
              <a:t>Normalized Difference Vegetation Index (NDVI)</a:t>
            </a:r>
            <a:r>
              <a:rPr lang="en-US" sz="1400" dirty="0">
                <a:latin typeface="Times New Roman" panose="02020603050405020304" pitchFamily="18" charset="0"/>
                <a:cs typeface="Times New Roman" panose="02020603050405020304" pitchFamily="18" charset="0"/>
              </a:rPr>
              <a:t> derived from multispectral satellite imagery. The study highlights how NDVI can effectively classify land cover into vegetation, water bodies, barren land, and urban regions. The approach is widely used in environmental monitoring due to its simplicity and ability to process large-scale satellite datasets.</a:t>
            </a:r>
            <a:endParaRPr lang="en-IN" sz="1400" dirty="0">
              <a:latin typeface="Times New Roman" panose="02020603050405020304" pitchFamily="18" charset="0"/>
              <a:cs typeface="Times New Roman" panose="02020603050405020304" pitchFamily="18" charset="0"/>
            </a:endParaRPr>
          </a:p>
        </p:txBody>
      </p:sp>
      <p:sp>
        <p:nvSpPr>
          <p:cNvPr id="9" name="Rectangle 8"/>
          <p:cNvSpPr/>
          <p:nvPr/>
        </p:nvSpPr>
        <p:spPr>
          <a:xfrm>
            <a:off x="234462" y="2554261"/>
            <a:ext cx="6096000" cy="307777"/>
          </a:xfrm>
          <a:prstGeom prst="rect">
            <a:avLst/>
          </a:prstGeom>
        </p:spPr>
        <p:txBody>
          <a:bodyPr>
            <a:spAutoFit/>
          </a:bodyPr>
          <a:lstStyle/>
          <a:p>
            <a:r>
              <a:rPr lang="en-IN" sz="1400" b="1" dirty="0">
                <a:latin typeface="Times New Roman" panose="02020603050405020304" pitchFamily="18" charset="0"/>
                <a:cs typeface="Times New Roman" panose="02020603050405020304" pitchFamily="18" charset="0"/>
              </a:rPr>
              <a:t>Methodology</a:t>
            </a:r>
          </a:p>
        </p:txBody>
      </p:sp>
      <p:sp>
        <p:nvSpPr>
          <p:cNvPr id="8" name="Rectangle 7"/>
          <p:cNvSpPr/>
          <p:nvPr/>
        </p:nvSpPr>
        <p:spPr>
          <a:xfrm>
            <a:off x="234462" y="2840199"/>
            <a:ext cx="7385548" cy="954107"/>
          </a:xfrm>
          <a:prstGeom prst="rect">
            <a:avLst/>
          </a:prstGeom>
        </p:spPr>
        <p:txBody>
          <a:bodyPr wrap="square">
            <a:spAutoFit/>
          </a:bodyPr>
          <a:lstStyle/>
          <a:p>
            <a:r>
              <a:rPr lang="en-US" sz="1400" dirty="0">
                <a:latin typeface="Times New Roman" panose="02020603050405020304" pitchFamily="18" charset="0"/>
                <a:cs typeface="Times New Roman" panose="02020603050405020304" pitchFamily="18" charset="0"/>
              </a:rPr>
              <a:t>The authors utilized Landsat satellite images and computed NDVI values using near-infrared (NIR) and red bands. Change detection was performed using </a:t>
            </a:r>
            <a:r>
              <a:rPr lang="en-US" sz="1400" b="1" dirty="0">
                <a:latin typeface="Times New Roman" panose="02020603050405020304" pitchFamily="18" charset="0"/>
                <a:cs typeface="Times New Roman" panose="02020603050405020304" pitchFamily="18" charset="0"/>
              </a:rPr>
              <a:t>NDVI differencing</a:t>
            </a:r>
            <a:r>
              <a:rPr lang="en-US" sz="1400" dirty="0">
                <a:latin typeface="Times New Roman" panose="02020603050405020304" pitchFamily="18" charset="0"/>
                <a:cs typeface="Times New Roman" panose="02020603050405020304" pitchFamily="18" charset="0"/>
              </a:rPr>
              <a:t>, where vegetation changes are identified by comparing NDVI values across time. Threshold values were applied to classify areas into dense vegetation, sparse vegetation, and non-vegetated regions.</a:t>
            </a:r>
            <a:endParaRPr lang="en-IN" sz="1400" dirty="0">
              <a:latin typeface="Times New Roman" panose="02020603050405020304" pitchFamily="18" charset="0"/>
              <a:cs typeface="Times New Roman" panose="02020603050405020304" pitchFamily="18" charset="0"/>
            </a:endParaRPr>
          </a:p>
        </p:txBody>
      </p:sp>
      <p:sp>
        <p:nvSpPr>
          <p:cNvPr id="11" name="Rectangle 10"/>
          <p:cNvSpPr/>
          <p:nvPr/>
        </p:nvSpPr>
        <p:spPr>
          <a:xfrm>
            <a:off x="243254" y="3846731"/>
            <a:ext cx="6096000" cy="307777"/>
          </a:xfrm>
          <a:prstGeom prst="rect">
            <a:avLst/>
          </a:prstGeom>
        </p:spPr>
        <p:txBody>
          <a:bodyPr>
            <a:spAutoFit/>
          </a:bodyPr>
          <a:lstStyle/>
          <a:p>
            <a:r>
              <a:rPr lang="en-IN" sz="1400" b="1" dirty="0">
                <a:latin typeface="Times New Roman" panose="02020603050405020304" pitchFamily="18" charset="0"/>
                <a:cs typeface="Times New Roman" panose="02020603050405020304" pitchFamily="18" charset="0"/>
              </a:rPr>
              <a:t>Relevance to Proposed System</a:t>
            </a:r>
          </a:p>
        </p:txBody>
      </p:sp>
      <p:sp>
        <p:nvSpPr>
          <p:cNvPr id="10" name="Rectangle 9"/>
          <p:cNvSpPr/>
          <p:nvPr/>
        </p:nvSpPr>
        <p:spPr>
          <a:xfrm>
            <a:off x="243254" y="4206933"/>
            <a:ext cx="7239000" cy="2031325"/>
          </a:xfrm>
          <a:prstGeom prst="rect">
            <a:avLst/>
          </a:prstGeom>
        </p:spPr>
        <p:txBody>
          <a:bodyPr wrap="square">
            <a:spAutoFit/>
          </a:bodyPr>
          <a:lstStyle/>
          <a:p>
            <a:r>
              <a:rPr lang="en-IN" sz="1400" dirty="0">
                <a:latin typeface="Times New Roman" panose="02020603050405020304" pitchFamily="18" charset="0"/>
                <a:cs typeface="Times New Roman" panose="02020603050405020304" pitchFamily="18" charset="0"/>
              </a:rPr>
              <a:t>This work is directly relevant to the proposed Smart Attendance Management System, where liveness detection is</a:t>
            </a:r>
          </a:p>
          <a:p>
            <a:r>
              <a:rPr lang="en-IN" sz="1400" dirty="0">
                <a:latin typeface="Times New Roman" panose="02020603050405020304" pitchFamily="18" charset="0"/>
                <a:cs typeface="Times New Roman" panose="02020603050405020304" pitchFamily="18" charset="0"/>
              </a:rPr>
              <a:t>crucial to prevent spoofing via photos or screen replays. The EAR-based blink detection approach provides a</a:t>
            </a:r>
          </a:p>
          <a:p>
            <a:r>
              <a:rPr lang="en-IN" sz="1400" dirty="0">
                <a:latin typeface="Times New Roman" panose="02020603050405020304" pitchFamily="18" charset="0"/>
                <a:cs typeface="Times New Roman" panose="02020603050405020304" pitchFamily="18" charset="0"/>
              </a:rPr>
              <a:t>lightweight, real-time liveness signal that can be integrated into the attendance pipeline. In our project, we adopt</a:t>
            </a:r>
          </a:p>
          <a:p>
            <a:r>
              <a:rPr lang="en-IN" sz="1400" dirty="0">
                <a:latin typeface="Times New Roman" panose="02020603050405020304" pitchFamily="18" charset="0"/>
                <a:cs typeface="Times New Roman" panose="02020603050405020304" pitchFamily="18" charset="0"/>
              </a:rPr>
              <a:t>the eye-blink-based liveness concept from this paper, combining it with deep learning face recognition to ensure</a:t>
            </a:r>
          </a:p>
          <a:p>
            <a:r>
              <a:rPr lang="en-IN" sz="1400" dirty="0">
                <a:latin typeface="Times New Roman" panose="02020603050405020304" pitchFamily="18" charset="0"/>
                <a:cs typeface="Times New Roman" panose="02020603050405020304" pitchFamily="18" charset="0"/>
              </a:rPr>
              <a:t>that attendance is marked only when a real, live student is present in front of the came</a:t>
            </a:r>
          </a:p>
        </p:txBody>
      </p:sp>
      <p:pic>
        <p:nvPicPr>
          <p:cNvPr id="5124" name="Picture 4" descr="Leveraging Vegetation Indices for Environmental Monitoring: A Practitioner’s Guide | by Everton Gomede, PhD | CodeX | 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83348" y="3164644"/>
            <a:ext cx="3794897" cy="2683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4615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6877" y="921753"/>
            <a:ext cx="6096000" cy="276999"/>
          </a:xfrm>
          <a:prstGeom prst="rect">
            <a:avLst/>
          </a:prstGeom>
        </p:spPr>
        <p:txBody>
          <a:bodyPr>
            <a:spAutoFit/>
          </a:bodyPr>
          <a:lstStyle/>
          <a:p>
            <a:r>
              <a:rPr lang="en-US" sz="1200" b="1" dirty="0">
                <a:latin typeface="Times New Roman" panose="02020603050405020304" pitchFamily="18" charset="0"/>
                <a:cs typeface="Times New Roman" panose="02020603050405020304" pitchFamily="18" charset="0"/>
              </a:rPr>
              <a:t>4.2 </a:t>
            </a:r>
            <a:r>
              <a:rPr lang="en-IN" sz="1200" b="1" dirty="0"/>
              <a:t>Bora et al. </a:t>
            </a:r>
            <a:r>
              <a:rPr lang="en-US" sz="1200" b="1" dirty="0">
                <a:latin typeface="Times New Roman" panose="02020603050405020304" pitchFamily="18" charset="0"/>
                <a:cs typeface="Times New Roman" panose="02020603050405020304" pitchFamily="18" charset="0"/>
              </a:rPr>
              <a:t>(2025 Study)</a:t>
            </a:r>
            <a:endParaRPr lang="en-IN" sz="1200" b="1" dirty="0">
              <a:latin typeface="Times New Roman" panose="02020603050405020304" pitchFamily="18" charset="0"/>
              <a:cs typeface="Times New Roman" panose="02020603050405020304" pitchFamily="18" charset="0"/>
            </a:endParaRPr>
          </a:p>
        </p:txBody>
      </p:sp>
      <p:sp>
        <p:nvSpPr>
          <p:cNvPr id="6" name="Rectangle 5"/>
          <p:cNvSpPr/>
          <p:nvPr/>
        </p:nvSpPr>
        <p:spPr>
          <a:xfrm>
            <a:off x="3891425" y="0"/>
            <a:ext cx="3728585" cy="646331"/>
          </a:xfrm>
          <a:prstGeom prst="rect">
            <a:avLst/>
          </a:prstGeom>
        </p:spPr>
        <p:txBody>
          <a:bodyPr wrap="none">
            <a:spAutoFit/>
          </a:bodyPr>
          <a:lstStyle/>
          <a:p>
            <a:r>
              <a:rPr lang="en-IN" sz="3600" b="1" dirty="0">
                <a:latin typeface="Times New Roman" panose="02020603050405020304" pitchFamily="18" charset="0"/>
                <a:cs typeface="Times New Roman" panose="02020603050405020304" pitchFamily="18" charset="0"/>
              </a:rPr>
              <a:t>Literature Survey</a:t>
            </a:r>
          </a:p>
        </p:txBody>
      </p:sp>
      <p:sp>
        <p:nvSpPr>
          <p:cNvPr id="7" name="Rectangle 6"/>
          <p:cNvSpPr/>
          <p:nvPr/>
        </p:nvSpPr>
        <p:spPr>
          <a:xfrm>
            <a:off x="216877" y="1240495"/>
            <a:ext cx="6096000" cy="307777"/>
          </a:xfrm>
          <a:prstGeom prst="rect">
            <a:avLst/>
          </a:prstGeom>
        </p:spPr>
        <p:txBody>
          <a:bodyPr>
            <a:spAutoFit/>
          </a:bodyPr>
          <a:lstStyle/>
          <a:p>
            <a:r>
              <a:rPr lang="en-IN" sz="1400" b="1" dirty="0">
                <a:latin typeface="Times New Roman" panose="02020603050405020304" pitchFamily="18" charset="0"/>
                <a:cs typeface="Times New Roman" panose="02020603050405020304" pitchFamily="18" charset="0"/>
              </a:rPr>
              <a:t>Overview</a:t>
            </a:r>
          </a:p>
        </p:txBody>
      </p:sp>
      <p:sp>
        <p:nvSpPr>
          <p:cNvPr id="5" name="Rectangle 4"/>
          <p:cNvSpPr/>
          <p:nvPr/>
        </p:nvSpPr>
        <p:spPr>
          <a:xfrm>
            <a:off x="216877" y="1600979"/>
            <a:ext cx="7467600" cy="1169551"/>
          </a:xfrm>
          <a:prstGeom prst="rect">
            <a:avLst/>
          </a:prstGeom>
        </p:spPr>
        <p:txBody>
          <a:bodyPr wrap="square">
            <a:spAutoFit/>
          </a:bodyPr>
          <a:lstStyle/>
          <a:p>
            <a:r>
              <a:rPr lang="en-US" sz="1400" dirty="0">
                <a:latin typeface="Times New Roman" panose="02020603050405020304" pitchFamily="18" charset="0"/>
                <a:cs typeface="Times New Roman" panose="02020603050405020304" pitchFamily="18" charset="0"/>
              </a:rPr>
              <a:t>This study focuses on </a:t>
            </a:r>
            <a:r>
              <a:rPr lang="en-US" sz="1400" b="1" dirty="0">
                <a:latin typeface="Times New Roman" panose="02020603050405020304" pitchFamily="18" charset="0"/>
                <a:cs typeface="Times New Roman" panose="02020603050405020304" pitchFamily="18" charset="0"/>
              </a:rPr>
              <a:t>spatiotemporal analysis of forest cover changes</a:t>
            </a:r>
            <a:r>
              <a:rPr lang="en-US" sz="1400" dirty="0">
                <a:latin typeface="Times New Roman" panose="02020603050405020304" pitchFamily="18" charset="0"/>
                <a:cs typeface="Times New Roman" panose="02020603050405020304" pitchFamily="18" charset="0"/>
              </a:rPr>
              <a:t> using NDVI and GIS techniques. It highlights how remote sensing data can be used to monitor vegetation patterns over time and detect human-induced environmental changes such as deforestation. The research emphasizes the importance of combining satellite imagery with geographic information systems for large-scale environmental monitoring.</a:t>
            </a:r>
            <a:endParaRPr lang="en-IN" sz="1400" dirty="0">
              <a:latin typeface="Times New Roman" panose="02020603050405020304" pitchFamily="18" charset="0"/>
              <a:cs typeface="Times New Roman" panose="02020603050405020304" pitchFamily="18" charset="0"/>
            </a:endParaRPr>
          </a:p>
        </p:txBody>
      </p:sp>
      <p:sp>
        <p:nvSpPr>
          <p:cNvPr id="9" name="Rectangle 8"/>
          <p:cNvSpPr/>
          <p:nvPr/>
        </p:nvSpPr>
        <p:spPr>
          <a:xfrm>
            <a:off x="234462" y="2807066"/>
            <a:ext cx="6096000" cy="307777"/>
          </a:xfrm>
          <a:prstGeom prst="rect">
            <a:avLst/>
          </a:prstGeom>
        </p:spPr>
        <p:txBody>
          <a:bodyPr>
            <a:spAutoFit/>
          </a:bodyPr>
          <a:lstStyle/>
          <a:p>
            <a:r>
              <a:rPr lang="en-IN" sz="1400" b="1" dirty="0">
                <a:latin typeface="Times New Roman" panose="02020603050405020304" pitchFamily="18" charset="0"/>
                <a:cs typeface="Times New Roman" panose="02020603050405020304" pitchFamily="18" charset="0"/>
              </a:rPr>
              <a:t>Methodology</a:t>
            </a:r>
          </a:p>
        </p:txBody>
      </p:sp>
      <p:sp>
        <p:nvSpPr>
          <p:cNvPr id="8" name="Rectangle 7"/>
          <p:cNvSpPr/>
          <p:nvPr/>
        </p:nvSpPr>
        <p:spPr>
          <a:xfrm>
            <a:off x="234462" y="3079299"/>
            <a:ext cx="7385548" cy="1169551"/>
          </a:xfrm>
          <a:prstGeom prst="rect">
            <a:avLst/>
          </a:prstGeom>
        </p:spPr>
        <p:txBody>
          <a:bodyPr wrap="square">
            <a:spAutoFit/>
          </a:bodyPr>
          <a:lstStyle/>
          <a:p>
            <a:r>
              <a:rPr lang="en-US" sz="1400" dirty="0">
                <a:latin typeface="Times New Roman" panose="02020603050405020304" pitchFamily="18" charset="0"/>
                <a:cs typeface="Times New Roman" panose="02020603050405020304" pitchFamily="18" charset="0"/>
              </a:rPr>
              <a:t>Satellite imagery collected over multiple time periods is processed using NDVI to classify land into different categories such as dense vegetation, sparse vegetation, and non-vegetated areas. The study integrates GIS tools to perform </a:t>
            </a:r>
            <a:r>
              <a:rPr lang="en-US" sz="1400" b="1" dirty="0">
                <a:latin typeface="Times New Roman" panose="02020603050405020304" pitchFamily="18" charset="0"/>
                <a:cs typeface="Times New Roman" panose="02020603050405020304" pitchFamily="18" charset="0"/>
              </a:rPr>
              <a:t>Land Use Land Cover (LULC) classification</a:t>
            </a:r>
            <a:r>
              <a:rPr lang="en-US" sz="1400" dirty="0">
                <a:latin typeface="Times New Roman" panose="02020603050405020304" pitchFamily="18" charset="0"/>
                <a:cs typeface="Times New Roman" panose="02020603050405020304" pitchFamily="18" charset="0"/>
              </a:rPr>
              <a:t> and temporal comparison. By analyzing NDVI values across different time intervals, the system identifies patterns of vegetation loss and growth</a:t>
            </a:r>
            <a:endParaRPr lang="en-IN" sz="1400" dirty="0">
              <a:latin typeface="Times New Roman" panose="02020603050405020304" pitchFamily="18" charset="0"/>
              <a:cs typeface="Times New Roman" panose="02020603050405020304" pitchFamily="18" charset="0"/>
            </a:endParaRPr>
          </a:p>
        </p:txBody>
      </p:sp>
      <p:sp>
        <p:nvSpPr>
          <p:cNvPr id="11" name="Rectangle 10"/>
          <p:cNvSpPr/>
          <p:nvPr/>
        </p:nvSpPr>
        <p:spPr>
          <a:xfrm>
            <a:off x="243254" y="4318179"/>
            <a:ext cx="6096000" cy="307777"/>
          </a:xfrm>
          <a:prstGeom prst="rect">
            <a:avLst/>
          </a:prstGeom>
        </p:spPr>
        <p:txBody>
          <a:bodyPr>
            <a:spAutoFit/>
          </a:bodyPr>
          <a:lstStyle/>
          <a:p>
            <a:r>
              <a:rPr lang="en-IN" sz="1400" b="1" dirty="0">
                <a:latin typeface="Times New Roman" panose="02020603050405020304" pitchFamily="18" charset="0"/>
                <a:cs typeface="Times New Roman" panose="02020603050405020304" pitchFamily="18" charset="0"/>
              </a:rPr>
              <a:t>Relevance to Proposed System</a:t>
            </a:r>
          </a:p>
        </p:txBody>
      </p:sp>
      <p:sp>
        <p:nvSpPr>
          <p:cNvPr id="10" name="Rectangle 9"/>
          <p:cNvSpPr/>
          <p:nvPr/>
        </p:nvSpPr>
        <p:spPr>
          <a:xfrm>
            <a:off x="243254" y="4678381"/>
            <a:ext cx="7239000" cy="1169551"/>
          </a:xfrm>
          <a:prstGeom prst="rect">
            <a:avLst/>
          </a:prstGeom>
        </p:spPr>
        <p:txBody>
          <a:bodyPr wrap="square">
            <a:spAutoFit/>
          </a:bodyPr>
          <a:lstStyle/>
          <a:p>
            <a:r>
              <a:rPr lang="en-US" sz="1400" dirty="0">
                <a:latin typeface="Times New Roman" panose="02020603050405020304" pitchFamily="18" charset="0"/>
                <a:cs typeface="Times New Roman" panose="02020603050405020304" pitchFamily="18" charset="0"/>
              </a:rPr>
              <a:t>This paper directly supports the </a:t>
            </a:r>
            <a:r>
              <a:rPr lang="en-US" sz="1400" b="1" dirty="0">
                <a:latin typeface="Times New Roman" panose="02020603050405020304" pitchFamily="18" charset="0"/>
                <a:cs typeface="Times New Roman" panose="02020603050405020304" pitchFamily="18" charset="0"/>
              </a:rPr>
              <a:t>mapping and visualization module of </a:t>
            </a:r>
            <a:r>
              <a:rPr lang="en-US" sz="1400" b="1" dirty="0" err="1">
                <a:latin typeface="Times New Roman" panose="02020603050405020304" pitchFamily="18" charset="0"/>
                <a:cs typeface="Times New Roman" panose="02020603050405020304" pitchFamily="18" charset="0"/>
              </a:rPr>
              <a:t>Deforesense</a:t>
            </a:r>
            <a:r>
              <a:rPr lang="en-US" sz="1400" dirty="0">
                <a:latin typeface="Times New Roman" panose="02020603050405020304" pitchFamily="18" charset="0"/>
                <a:cs typeface="Times New Roman" panose="02020603050405020304" pitchFamily="18" charset="0"/>
              </a:rPr>
              <a:t>. It validates the use of NDVI combined with spatial analysis for detecting forest changes. While the study focuses on analysis and visualization, this project extends this approach by incorporating </a:t>
            </a:r>
            <a:r>
              <a:rPr lang="en-US" sz="1400" b="1" dirty="0">
                <a:latin typeface="Times New Roman" panose="02020603050405020304" pitchFamily="18" charset="0"/>
                <a:cs typeface="Times New Roman" panose="02020603050405020304" pitchFamily="18" charset="0"/>
              </a:rPr>
              <a:t>real-time monitoring, automated alerts, and an interactive dashboard</a:t>
            </a:r>
            <a:r>
              <a:rPr lang="en-US" sz="1400" dirty="0">
                <a:latin typeface="Times New Roman" panose="02020603050405020304" pitchFamily="18" charset="0"/>
                <a:cs typeface="Times New Roman" panose="02020603050405020304" pitchFamily="18" charset="0"/>
              </a:rPr>
              <a:t>, making the system more practical and responsive for real-world applications.</a:t>
            </a:r>
            <a:endParaRPr lang="en-IN" sz="1400" dirty="0">
              <a:latin typeface="Times New Roman" panose="02020603050405020304" pitchFamily="18" charset="0"/>
              <a:cs typeface="Times New Roman" panose="02020603050405020304" pitchFamily="18" charset="0"/>
            </a:endParaRPr>
          </a:p>
        </p:txBody>
      </p:sp>
      <p:pic>
        <p:nvPicPr>
          <p:cNvPr id="1026" name="Picture 2" descr="Como usar diferença entre dois NDVIs do Sentinel-2 para atualizar colheita em mapas florestai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65736" y="869437"/>
            <a:ext cx="3522525" cy="224400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atellite Embedding Deep Dive (Full Worksho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65736" y="3543300"/>
            <a:ext cx="3556979" cy="2602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564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6877" y="921753"/>
            <a:ext cx="6096000" cy="276999"/>
          </a:xfrm>
          <a:prstGeom prst="rect">
            <a:avLst/>
          </a:prstGeom>
        </p:spPr>
        <p:txBody>
          <a:bodyPr>
            <a:spAutoFit/>
          </a:bodyPr>
          <a:lstStyle/>
          <a:p>
            <a:r>
              <a:rPr lang="da-DK" sz="1200" b="1" dirty="0">
                <a:latin typeface="Times New Roman" panose="02020603050405020304" pitchFamily="18" charset="0"/>
                <a:cs typeface="Times New Roman" panose="02020603050405020304" pitchFamily="18" charset="0"/>
              </a:rPr>
              <a:t>4.3 </a:t>
            </a:r>
            <a:r>
              <a:rPr lang="en-IN" sz="1200" b="1" dirty="0"/>
              <a:t>Aziz et al. (2024)</a:t>
            </a:r>
            <a:endParaRPr lang="en-IN" sz="1200" b="1" dirty="0">
              <a:latin typeface="Times New Roman" panose="02020603050405020304" pitchFamily="18" charset="0"/>
              <a:cs typeface="Times New Roman" panose="02020603050405020304" pitchFamily="18" charset="0"/>
            </a:endParaRPr>
          </a:p>
        </p:txBody>
      </p:sp>
      <p:sp>
        <p:nvSpPr>
          <p:cNvPr id="6" name="Rectangle 5"/>
          <p:cNvSpPr/>
          <p:nvPr/>
        </p:nvSpPr>
        <p:spPr>
          <a:xfrm>
            <a:off x="3891425" y="0"/>
            <a:ext cx="3728585" cy="646331"/>
          </a:xfrm>
          <a:prstGeom prst="rect">
            <a:avLst/>
          </a:prstGeom>
        </p:spPr>
        <p:txBody>
          <a:bodyPr wrap="none">
            <a:spAutoFit/>
          </a:bodyPr>
          <a:lstStyle/>
          <a:p>
            <a:r>
              <a:rPr lang="en-IN" sz="3600" b="1" dirty="0">
                <a:latin typeface="Times New Roman" panose="02020603050405020304" pitchFamily="18" charset="0"/>
                <a:cs typeface="Times New Roman" panose="02020603050405020304" pitchFamily="18" charset="0"/>
              </a:rPr>
              <a:t>Literature Survey</a:t>
            </a:r>
          </a:p>
        </p:txBody>
      </p:sp>
      <p:sp>
        <p:nvSpPr>
          <p:cNvPr id="7" name="Rectangle 6"/>
          <p:cNvSpPr/>
          <p:nvPr/>
        </p:nvSpPr>
        <p:spPr>
          <a:xfrm>
            <a:off x="216877" y="1260185"/>
            <a:ext cx="6096000" cy="307777"/>
          </a:xfrm>
          <a:prstGeom prst="rect">
            <a:avLst/>
          </a:prstGeom>
        </p:spPr>
        <p:txBody>
          <a:bodyPr>
            <a:spAutoFit/>
          </a:bodyPr>
          <a:lstStyle/>
          <a:p>
            <a:r>
              <a:rPr lang="en-IN" sz="1400" b="1" dirty="0">
                <a:latin typeface="Times New Roman" panose="02020603050405020304" pitchFamily="18" charset="0"/>
                <a:cs typeface="Times New Roman" panose="02020603050405020304" pitchFamily="18" charset="0"/>
              </a:rPr>
              <a:t>Overview</a:t>
            </a:r>
          </a:p>
        </p:txBody>
      </p:sp>
      <p:sp>
        <p:nvSpPr>
          <p:cNvPr id="5" name="Rectangle 4"/>
          <p:cNvSpPr/>
          <p:nvPr/>
        </p:nvSpPr>
        <p:spPr>
          <a:xfrm>
            <a:off x="216877" y="1600979"/>
            <a:ext cx="7467600" cy="954107"/>
          </a:xfrm>
          <a:prstGeom prst="rect">
            <a:avLst/>
          </a:prstGeom>
        </p:spPr>
        <p:txBody>
          <a:bodyPr wrap="square">
            <a:spAutoFit/>
          </a:bodyPr>
          <a:lstStyle/>
          <a:p>
            <a:r>
              <a:rPr lang="en-US" sz="1400" dirty="0">
                <a:latin typeface="Times New Roman" panose="02020603050405020304" pitchFamily="18" charset="0"/>
                <a:cs typeface="Times New Roman" panose="02020603050405020304" pitchFamily="18" charset="0"/>
              </a:rPr>
              <a:t>This study explores the use of </a:t>
            </a:r>
            <a:r>
              <a:rPr lang="en-US" sz="1400" b="1" dirty="0">
                <a:latin typeface="Times New Roman" panose="02020603050405020304" pitchFamily="18" charset="0"/>
                <a:cs typeface="Times New Roman" panose="02020603050405020304" pitchFamily="18" charset="0"/>
              </a:rPr>
              <a:t>machine learning algorithms for forest monitoring</a:t>
            </a:r>
            <a:r>
              <a:rPr lang="en-US" sz="1400" dirty="0">
                <a:latin typeface="Times New Roman" panose="02020603050405020304" pitchFamily="18" charset="0"/>
                <a:cs typeface="Times New Roman" panose="02020603050405020304" pitchFamily="18" charset="0"/>
              </a:rPr>
              <a:t> using remote sensing data. It demonstrates how ML techniques can improve classification accuracy compared to traditional methods by learning patterns from large-scale satellite datasets. The research highlights the importance of automated data-driven models in environmental monitoring systems.</a:t>
            </a:r>
            <a:endParaRPr lang="en-IN" sz="1400" dirty="0">
              <a:latin typeface="Times New Roman" panose="02020603050405020304" pitchFamily="18" charset="0"/>
              <a:cs typeface="Times New Roman" panose="02020603050405020304" pitchFamily="18" charset="0"/>
            </a:endParaRPr>
          </a:p>
        </p:txBody>
      </p:sp>
      <p:sp>
        <p:nvSpPr>
          <p:cNvPr id="9" name="Rectangle 8"/>
          <p:cNvSpPr/>
          <p:nvPr/>
        </p:nvSpPr>
        <p:spPr>
          <a:xfrm>
            <a:off x="234462" y="2555086"/>
            <a:ext cx="6096000" cy="307777"/>
          </a:xfrm>
          <a:prstGeom prst="rect">
            <a:avLst/>
          </a:prstGeom>
        </p:spPr>
        <p:txBody>
          <a:bodyPr>
            <a:spAutoFit/>
          </a:bodyPr>
          <a:lstStyle/>
          <a:p>
            <a:r>
              <a:rPr lang="en-IN" sz="1400" b="1" dirty="0">
                <a:latin typeface="Times New Roman" panose="02020603050405020304" pitchFamily="18" charset="0"/>
                <a:cs typeface="Times New Roman" panose="02020603050405020304" pitchFamily="18" charset="0"/>
              </a:rPr>
              <a:t>Methodology</a:t>
            </a:r>
          </a:p>
        </p:txBody>
      </p:sp>
      <p:sp>
        <p:nvSpPr>
          <p:cNvPr id="8" name="Rectangle 7"/>
          <p:cNvSpPr/>
          <p:nvPr/>
        </p:nvSpPr>
        <p:spPr>
          <a:xfrm>
            <a:off x="234462" y="2841024"/>
            <a:ext cx="7385548" cy="1169551"/>
          </a:xfrm>
          <a:prstGeom prst="rect">
            <a:avLst/>
          </a:prstGeom>
        </p:spPr>
        <p:txBody>
          <a:bodyPr wrap="square">
            <a:spAutoFit/>
          </a:bodyPr>
          <a:lstStyle/>
          <a:p>
            <a:r>
              <a:rPr lang="en-US" sz="1400" dirty="0"/>
              <a:t>The methodology involves extracting features from satellite imagery, including vegetation indices such as NDVI, and using them as input for machine learning models. Algorithms like </a:t>
            </a:r>
            <a:r>
              <a:rPr lang="en-US" sz="1400" b="1" dirty="0"/>
              <a:t>Random Forest and other classifiers</a:t>
            </a:r>
            <a:r>
              <a:rPr lang="en-US" sz="1400" dirty="0"/>
              <a:t> are trained on labeled datasets to distinguish between forest and non-forest areas. The trained models are then used to classify new satellite data and monitor changes over time, improving detection accuracy and reducing errors.</a:t>
            </a:r>
            <a:endParaRPr lang="en-IN" sz="1400" dirty="0">
              <a:latin typeface="Times New Roman" panose="02020603050405020304" pitchFamily="18" charset="0"/>
              <a:cs typeface="Times New Roman" panose="02020603050405020304" pitchFamily="18" charset="0"/>
            </a:endParaRPr>
          </a:p>
        </p:txBody>
      </p:sp>
      <p:sp>
        <p:nvSpPr>
          <p:cNvPr id="11" name="Rectangle 10"/>
          <p:cNvSpPr/>
          <p:nvPr/>
        </p:nvSpPr>
        <p:spPr>
          <a:xfrm>
            <a:off x="243254" y="3936311"/>
            <a:ext cx="6096000" cy="307777"/>
          </a:xfrm>
          <a:prstGeom prst="rect">
            <a:avLst/>
          </a:prstGeom>
        </p:spPr>
        <p:txBody>
          <a:bodyPr>
            <a:spAutoFit/>
          </a:bodyPr>
          <a:lstStyle/>
          <a:p>
            <a:r>
              <a:rPr lang="en-IN" sz="1400" b="1" dirty="0">
                <a:latin typeface="Times New Roman" panose="02020603050405020304" pitchFamily="18" charset="0"/>
                <a:cs typeface="Times New Roman" panose="02020603050405020304" pitchFamily="18" charset="0"/>
              </a:rPr>
              <a:t>Relevance to Proposed System</a:t>
            </a:r>
          </a:p>
        </p:txBody>
      </p:sp>
      <p:sp>
        <p:nvSpPr>
          <p:cNvPr id="10" name="Rectangle 9"/>
          <p:cNvSpPr/>
          <p:nvPr/>
        </p:nvSpPr>
        <p:spPr>
          <a:xfrm>
            <a:off x="243254" y="4296513"/>
            <a:ext cx="7239000" cy="1169551"/>
          </a:xfrm>
          <a:prstGeom prst="rect">
            <a:avLst/>
          </a:prstGeom>
        </p:spPr>
        <p:txBody>
          <a:bodyPr wrap="square">
            <a:spAutoFit/>
          </a:bodyPr>
          <a:lstStyle/>
          <a:p>
            <a:r>
              <a:rPr lang="en-US" sz="1400" dirty="0">
                <a:latin typeface="Times New Roman" panose="02020603050405020304" pitchFamily="18" charset="0"/>
                <a:cs typeface="Times New Roman" panose="02020603050405020304" pitchFamily="18" charset="0"/>
              </a:rPr>
              <a:t>This paper supports the </a:t>
            </a:r>
            <a:r>
              <a:rPr lang="en-US" sz="1400" b="1" dirty="0">
                <a:latin typeface="Times New Roman" panose="02020603050405020304" pitchFamily="18" charset="0"/>
                <a:cs typeface="Times New Roman" panose="02020603050405020304" pitchFamily="18" charset="0"/>
              </a:rPr>
              <a:t>machine learning enhancement capability of this project</a:t>
            </a:r>
            <a:r>
              <a:rPr lang="en-US" sz="1400" dirty="0">
                <a:latin typeface="Times New Roman" panose="02020603050405020304" pitchFamily="18" charset="0"/>
                <a:cs typeface="Times New Roman" panose="02020603050405020304" pitchFamily="18" charset="0"/>
              </a:rPr>
              <a:t>. While the current system relies on NDVI-based threshold detection, integrating machine learning models can significantly improve accuracy, reduce false positives, and enable more intelligent classification of forest changes. It provides a strong foundation for future system upgrades involving AI-based detection mechanisms</a:t>
            </a:r>
            <a:endParaRPr lang="en-IN" sz="1400" dirty="0">
              <a:latin typeface="Times New Roman" panose="02020603050405020304" pitchFamily="18" charset="0"/>
              <a:cs typeface="Times New Roman" panose="02020603050405020304" pitchFamily="18" charset="0"/>
            </a:endParaRPr>
          </a:p>
        </p:txBody>
      </p:sp>
      <p:pic>
        <p:nvPicPr>
          <p:cNvPr id="2050" name="Picture 2" descr="The analysis of financial market risk based on machine learning and particle swarm optimization algorithm | Journal on Wireless Communications and Networking | Springer Nature Lin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2808" y="1119863"/>
            <a:ext cx="3293226" cy="143522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valuation of Light Gradient Boosted Machine Learning Technique in Large Scale Land Use and Land Cover Classificat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92227" y="2862863"/>
            <a:ext cx="2514388" cy="3288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1299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46320" y="81280"/>
            <a:ext cx="2775119" cy="646331"/>
          </a:xfrm>
          <a:prstGeom prst="rect">
            <a:avLst/>
          </a:prstGeom>
          <a:noFill/>
        </p:spPr>
        <p:txBody>
          <a:bodyPr wrap="none" rtlCol="0">
            <a:spAutoFit/>
          </a:bodyPr>
          <a:lstStyle/>
          <a:p>
            <a:r>
              <a:rPr lang="en-US" sz="3600" b="1" dirty="0">
                <a:latin typeface="Times New Roman" panose="02020603050405020304" pitchFamily="18" charset="0"/>
                <a:cs typeface="Times New Roman" panose="02020603050405020304" pitchFamily="18" charset="0"/>
              </a:rPr>
              <a:t>Methodology</a:t>
            </a:r>
            <a:endParaRPr lang="en-IN" sz="3600" b="1" dirty="0">
              <a:latin typeface="Times New Roman" panose="02020603050405020304" pitchFamily="18" charset="0"/>
              <a:cs typeface="Times New Roman" panose="02020603050405020304" pitchFamily="18" charset="0"/>
            </a:endParaRPr>
          </a:p>
        </p:txBody>
      </p:sp>
      <p:sp>
        <p:nvSpPr>
          <p:cNvPr id="6" name="Rectangle 5"/>
          <p:cNvSpPr/>
          <p:nvPr/>
        </p:nvSpPr>
        <p:spPr>
          <a:xfrm>
            <a:off x="475947" y="727611"/>
            <a:ext cx="1261884" cy="461665"/>
          </a:xfrm>
          <a:prstGeom prst="rect">
            <a:avLst/>
          </a:prstGeom>
        </p:spPr>
        <p:txBody>
          <a:bodyPr wrap="none">
            <a:spAutoFit/>
          </a:bodyPr>
          <a:lstStyle/>
          <a:p>
            <a:r>
              <a:rPr lang="en-IN" sz="2400" b="1">
                <a:latin typeface="Times New Roman" panose="02020603050405020304" pitchFamily="18" charset="0"/>
                <a:cs typeface="Times New Roman" panose="02020603050405020304" pitchFamily="18" charset="0"/>
              </a:rPr>
              <a:t>Existing</a:t>
            </a:r>
            <a:endParaRPr lang="en-IN" sz="2400" b="1" dirty="0">
              <a:latin typeface="Times New Roman" panose="02020603050405020304" pitchFamily="18" charset="0"/>
              <a:cs typeface="Times New Roman" panose="02020603050405020304" pitchFamily="18" charset="0"/>
            </a:endParaRPr>
          </a:p>
        </p:txBody>
      </p:sp>
      <p:sp>
        <p:nvSpPr>
          <p:cNvPr id="7" name="Rectangle 6"/>
          <p:cNvSpPr/>
          <p:nvPr/>
        </p:nvSpPr>
        <p:spPr>
          <a:xfrm>
            <a:off x="475946" y="1289149"/>
            <a:ext cx="4016997"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Traditional Forest Monitoring Systems</a:t>
            </a:r>
          </a:p>
        </p:txBody>
      </p:sp>
      <p:sp>
        <p:nvSpPr>
          <p:cNvPr id="8" name="Rectangle 7"/>
          <p:cNvSpPr/>
          <p:nvPr/>
        </p:nvSpPr>
        <p:spPr>
          <a:xfrm>
            <a:off x="475947" y="1835607"/>
            <a:ext cx="1133644"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Overview</a:t>
            </a:r>
          </a:p>
        </p:txBody>
      </p:sp>
      <p:sp>
        <p:nvSpPr>
          <p:cNvPr id="12" name="Rectangle 11"/>
          <p:cNvSpPr/>
          <p:nvPr/>
        </p:nvSpPr>
        <p:spPr>
          <a:xfrm>
            <a:off x="475946" y="2204939"/>
            <a:ext cx="6575093" cy="1200329"/>
          </a:xfrm>
          <a:prstGeom prst="rect">
            <a:avLst/>
          </a:prstGeom>
        </p:spPr>
        <p:txBody>
          <a:bodyPr wrap="square">
            <a:spAutoFit/>
          </a:bodyPr>
          <a:lstStyle/>
          <a:p>
            <a:r>
              <a:rPr lang="en-US" dirty="0"/>
              <a:t>Traditional deforestation monitoring methods rely on </a:t>
            </a:r>
            <a:r>
              <a:rPr lang="en-US" b="1" dirty="0"/>
              <a:t>manual inspection, periodic surveys, and basic satellite comparisons</a:t>
            </a:r>
            <a:r>
              <a:rPr lang="en-US" dirty="0"/>
              <a:t>. Government agencies and environmental organizations analyze satellite images manually or use simple threshold-based techniques.</a:t>
            </a:r>
            <a:endParaRPr lang="en-IN" dirty="0"/>
          </a:p>
        </p:txBody>
      </p:sp>
      <p:sp>
        <p:nvSpPr>
          <p:cNvPr id="13" name="Rectangle 12"/>
          <p:cNvSpPr/>
          <p:nvPr/>
        </p:nvSpPr>
        <p:spPr>
          <a:xfrm>
            <a:off x="475946" y="3452892"/>
            <a:ext cx="6096000" cy="1477328"/>
          </a:xfrm>
          <a:prstGeom prst="rect">
            <a:avLst/>
          </a:prstGeom>
        </p:spPr>
        <p:txBody>
          <a:bodyPr>
            <a:spAutoFit/>
          </a:bodyPr>
          <a:lstStyle/>
          <a:p>
            <a:r>
              <a:rPr lang="en-US" dirty="0"/>
              <a:t>These systems are often:</a:t>
            </a:r>
          </a:p>
          <a:p>
            <a:pPr>
              <a:buFont typeface="Arial" panose="020B0604020202020204" pitchFamily="34" charset="0"/>
              <a:buChar char="•"/>
            </a:pPr>
            <a:r>
              <a:rPr lang="en-US" dirty="0"/>
              <a:t>Time-consuming </a:t>
            </a:r>
          </a:p>
          <a:p>
            <a:pPr>
              <a:buFont typeface="Arial" panose="020B0604020202020204" pitchFamily="34" charset="0"/>
              <a:buChar char="•"/>
            </a:pPr>
            <a:r>
              <a:rPr lang="en-US" dirty="0"/>
              <a:t>Not real-time </a:t>
            </a:r>
          </a:p>
          <a:p>
            <a:pPr>
              <a:buFont typeface="Arial" panose="020B0604020202020204" pitchFamily="34" charset="0"/>
              <a:buChar char="•"/>
            </a:pPr>
            <a:r>
              <a:rPr lang="en-US" dirty="0"/>
              <a:t>Prone to human error </a:t>
            </a:r>
          </a:p>
          <a:p>
            <a:pPr>
              <a:buFont typeface="Arial" panose="020B0604020202020204" pitchFamily="34" charset="0"/>
              <a:buChar char="•"/>
            </a:pPr>
            <a:r>
              <a:rPr lang="en-US" dirty="0"/>
              <a:t>Difficult to scale across large forest areas</a:t>
            </a:r>
          </a:p>
        </p:txBody>
      </p:sp>
      <p:sp>
        <p:nvSpPr>
          <p:cNvPr id="14" name="Rectangle 13"/>
          <p:cNvSpPr/>
          <p:nvPr/>
        </p:nvSpPr>
        <p:spPr>
          <a:xfrm>
            <a:off x="475946" y="4977844"/>
            <a:ext cx="6096000" cy="1754326"/>
          </a:xfrm>
          <a:prstGeom prst="rect">
            <a:avLst/>
          </a:prstGeom>
        </p:spPr>
        <p:txBody>
          <a:bodyPr>
            <a:spAutoFit/>
          </a:bodyPr>
          <a:lstStyle/>
          <a:p>
            <a:r>
              <a:rPr lang="en-US" b="1" dirty="0"/>
              <a:t>Limitations of Existing Systems</a:t>
            </a:r>
          </a:p>
          <a:p>
            <a:pPr>
              <a:buFont typeface="Arial" panose="020B0604020202020204" pitchFamily="34" charset="0"/>
              <a:buChar char="•"/>
            </a:pPr>
            <a:r>
              <a:rPr lang="en-US" dirty="0"/>
              <a:t>No automated detection of deforestation </a:t>
            </a:r>
          </a:p>
          <a:p>
            <a:pPr>
              <a:buFont typeface="Arial" panose="020B0604020202020204" pitchFamily="34" charset="0"/>
              <a:buChar char="•"/>
            </a:pPr>
            <a:r>
              <a:rPr lang="en-US" dirty="0"/>
              <a:t>Delayed response to illegal activities </a:t>
            </a:r>
          </a:p>
          <a:p>
            <a:pPr>
              <a:buFont typeface="Arial" panose="020B0604020202020204" pitchFamily="34" charset="0"/>
              <a:buChar char="•"/>
            </a:pPr>
            <a:r>
              <a:rPr lang="en-US" dirty="0"/>
              <a:t>Lack of real-time alerts </a:t>
            </a:r>
          </a:p>
          <a:p>
            <a:pPr>
              <a:buFont typeface="Arial" panose="020B0604020202020204" pitchFamily="34" charset="0"/>
              <a:buChar char="•"/>
            </a:pPr>
            <a:r>
              <a:rPr lang="en-US" dirty="0"/>
              <a:t>Minimal use of advanced AI/ML techniques </a:t>
            </a:r>
          </a:p>
          <a:p>
            <a:pPr>
              <a:buFont typeface="Arial" panose="020B0604020202020204" pitchFamily="34" charset="0"/>
              <a:buChar char="•"/>
            </a:pPr>
            <a:r>
              <a:rPr lang="en-US" dirty="0"/>
              <a:t>Poor visualization and user interaction</a:t>
            </a:r>
          </a:p>
        </p:txBody>
      </p:sp>
    </p:spTree>
    <p:extLst>
      <p:ext uri="{BB962C8B-B14F-4D97-AF65-F5344CB8AC3E}">
        <p14:creationId xmlns:p14="http://schemas.microsoft.com/office/powerpoint/2010/main" val="3231277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46320" y="81280"/>
            <a:ext cx="2775119" cy="646331"/>
          </a:xfrm>
          <a:prstGeom prst="rect">
            <a:avLst/>
          </a:prstGeom>
          <a:noFill/>
        </p:spPr>
        <p:txBody>
          <a:bodyPr wrap="none" rtlCol="0">
            <a:spAutoFit/>
          </a:bodyPr>
          <a:lstStyle/>
          <a:p>
            <a:r>
              <a:rPr lang="en-US" sz="3600" b="1" dirty="0">
                <a:latin typeface="Times New Roman" panose="02020603050405020304" pitchFamily="18" charset="0"/>
                <a:cs typeface="Times New Roman" panose="02020603050405020304" pitchFamily="18" charset="0"/>
              </a:rPr>
              <a:t>Methodology</a:t>
            </a:r>
            <a:endParaRPr lang="en-IN" sz="3600" b="1" dirty="0">
              <a:latin typeface="Times New Roman" panose="02020603050405020304" pitchFamily="18" charset="0"/>
              <a:cs typeface="Times New Roman" panose="02020603050405020304" pitchFamily="18" charset="0"/>
            </a:endParaRPr>
          </a:p>
        </p:txBody>
      </p:sp>
      <p:sp>
        <p:nvSpPr>
          <p:cNvPr id="6" name="Rectangle 5"/>
          <p:cNvSpPr/>
          <p:nvPr/>
        </p:nvSpPr>
        <p:spPr>
          <a:xfrm>
            <a:off x="475947" y="727611"/>
            <a:ext cx="3213572" cy="461665"/>
          </a:xfrm>
          <a:prstGeom prst="rect">
            <a:avLst/>
          </a:prstGeom>
        </p:spPr>
        <p:txBody>
          <a:bodyPr wrap="none">
            <a:spAutoFit/>
          </a:bodyPr>
          <a:lstStyle/>
          <a:p>
            <a:r>
              <a:rPr lang="en-IN" sz="2400" b="1" dirty="0">
                <a:latin typeface="Times New Roman" panose="02020603050405020304" pitchFamily="18" charset="0"/>
                <a:cs typeface="Times New Roman" panose="02020603050405020304" pitchFamily="18" charset="0"/>
              </a:rPr>
              <a:t>Proposed Methodology</a:t>
            </a:r>
          </a:p>
        </p:txBody>
      </p:sp>
      <p:sp>
        <p:nvSpPr>
          <p:cNvPr id="7" name="Rectangle 6"/>
          <p:cNvSpPr/>
          <p:nvPr/>
        </p:nvSpPr>
        <p:spPr>
          <a:xfrm>
            <a:off x="475946" y="1289149"/>
            <a:ext cx="4081245" cy="369332"/>
          </a:xfrm>
          <a:prstGeom prst="rect">
            <a:avLst/>
          </a:prstGeom>
        </p:spPr>
        <p:txBody>
          <a:bodyPr wrap="none">
            <a:spAutoFit/>
          </a:bodyPr>
          <a:lstStyle/>
          <a:p>
            <a:r>
              <a:rPr lang="en-IN" b="1" dirty="0" err="1">
                <a:latin typeface="Times New Roman" panose="02020603050405020304" pitchFamily="18" charset="0"/>
                <a:cs typeface="Times New Roman" panose="02020603050405020304" pitchFamily="18" charset="0"/>
              </a:rPr>
              <a:t>Deforesense</a:t>
            </a:r>
            <a:r>
              <a:rPr lang="en-IN" b="1" dirty="0">
                <a:latin typeface="Times New Roman" panose="02020603050405020304" pitchFamily="18" charset="0"/>
                <a:cs typeface="Times New Roman" panose="02020603050405020304" pitchFamily="18" charset="0"/>
              </a:rPr>
              <a:t> Forest Monitoring Systems</a:t>
            </a:r>
          </a:p>
        </p:txBody>
      </p:sp>
      <p:sp>
        <p:nvSpPr>
          <p:cNvPr id="2" name="Rectangle 1"/>
          <p:cNvSpPr/>
          <p:nvPr/>
        </p:nvSpPr>
        <p:spPr>
          <a:xfrm>
            <a:off x="475946" y="1875919"/>
            <a:ext cx="6096000" cy="4247317"/>
          </a:xfrm>
          <a:prstGeom prst="rect">
            <a:avLst/>
          </a:prstGeom>
        </p:spPr>
        <p:txBody>
          <a:bodyPr>
            <a:spAutoFit/>
          </a:bodyPr>
          <a:lstStyle/>
          <a:p>
            <a:r>
              <a:rPr lang="en-IN" b="1" dirty="0">
                <a:latin typeface="Times New Roman" panose="02020603050405020304" pitchFamily="18" charset="0"/>
                <a:cs typeface="Times New Roman" panose="02020603050405020304" pitchFamily="18" charset="0"/>
              </a:rPr>
              <a:t>System Workflow</a:t>
            </a:r>
          </a:p>
          <a:p>
            <a:r>
              <a:rPr lang="en-IN" dirty="0">
                <a:latin typeface="Times New Roman" panose="02020603050405020304" pitchFamily="18" charset="0"/>
                <a:cs typeface="Times New Roman" panose="02020603050405020304" pitchFamily="18" charset="0"/>
              </a:rPr>
              <a:t>When a user selects a region:</a:t>
            </a:r>
          </a:p>
          <a:p>
            <a:endParaRPr lang="en-IN" dirty="0">
              <a:latin typeface="Times New Roman" panose="02020603050405020304" pitchFamily="18" charset="0"/>
              <a:cs typeface="Times New Roman" panose="02020603050405020304" pitchFamily="18" charset="0"/>
            </a:endParaRPr>
          </a:p>
          <a:p>
            <a:pPr>
              <a:lnSpc>
                <a:spcPct val="150000"/>
              </a:lnSpc>
              <a:buFont typeface="+mj-lt"/>
              <a:buAutoNum type="arabicPeriod"/>
            </a:pPr>
            <a:r>
              <a:rPr lang="en-IN" dirty="0">
                <a:latin typeface="Times New Roman" panose="02020603050405020304" pitchFamily="18" charset="0"/>
                <a:cs typeface="Times New Roman" panose="02020603050405020304" pitchFamily="18" charset="0"/>
              </a:rPr>
              <a:t>Fetch satellite imagery (T1 and T2) </a:t>
            </a:r>
          </a:p>
          <a:p>
            <a:pPr>
              <a:lnSpc>
                <a:spcPct val="150000"/>
              </a:lnSpc>
              <a:buFont typeface="+mj-lt"/>
              <a:buAutoNum type="arabicPeriod"/>
            </a:pPr>
            <a:r>
              <a:rPr lang="en-IN" dirty="0">
                <a:latin typeface="Times New Roman" panose="02020603050405020304" pitchFamily="18" charset="0"/>
                <a:cs typeface="Times New Roman" panose="02020603050405020304" pitchFamily="18" charset="0"/>
              </a:rPr>
              <a:t>Apply </a:t>
            </a:r>
            <a:r>
              <a:rPr lang="en-IN" dirty="0" err="1">
                <a:latin typeface="Times New Roman" panose="02020603050405020304" pitchFamily="18" charset="0"/>
                <a:cs typeface="Times New Roman" panose="02020603050405020304" pitchFamily="18" charset="0"/>
              </a:rPr>
              <a:t>preprocessing</a:t>
            </a:r>
            <a:r>
              <a:rPr lang="en-IN" dirty="0">
                <a:latin typeface="Times New Roman" panose="02020603050405020304" pitchFamily="18" charset="0"/>
                <a:cs typeface="Times New Roman" panose="02020603050405020304" pitchFamily="18" charset="0"/>
              </a:rPr>
              <a:t> (cloud masking, normalization) </a:t>
            </a:r>
          </a:p>
          <a:p>
            <a:pPr>
              <a:lnSpc>
                <a:spcPct val="150000"/>
              </a:lnSpc>
              <a:buFont typeface="+mj-lt"/>
              <a:buAutoNum type="arabicPeriod"/>
            </a:pPr>
            <a:r>
              <a:rPr lang="en-IN" dirty="0">
                <a:latin typeface="Times New Roman" panose="02020603050405020304" pitchFamily="18" charset="0"/>
                <a:cs typeface="Times New Roman" panose="02020603050405020304" pitchFamily="18" charset="0"/>
              </a:rPr>
              <a:t>Compute NDVI maps </a:t>
            </a:r>
          </a:p>
          <a:p>
            <a:pPr>
              <a:lnSpc>
                <a:spcPct val="150000"/>
              </a:lnSpc>
              <a:buFont typeface="+mj-lt"/>
              <a:buAutoNum type="arabicPeriod"/>
            </a:pPr>
            <a:r>
              <a:rPr lang="en-IN" dirty="0">
                <a:latin typeface="Times New Roman" panose="02020603050405020304" pitchFamily="18" charset="0"/>
                <a:cs typeface="Times New Roman" panose="02020603050405020304" pitchFamily="18" charset="0"/>
              </a:rPr>
              <a:t>Perform change detection (</a:t>
            </a:r>
            <a:r>
              <a:rPr lang="el-GR" dirty="0">
                <a:latin typeface="Times New Roman" panose="02020603050405020304" pitchFamily="18" charset="0"/>
                <a:cs typeface="Times New Roman" panose="02020603050405020304" pitchFamily="18" charset="0"/>
              </a:rPr>
              <a:t>Δ</a:t>
            </a:r>
            <a:r>
              <a:rPr lang="en-IN" dirty="0">
                <a:latin typeface="Times New Roman" panose="02020603050405020304" pitchFamily="18" charset="0"/>
                <a:cs typeface="Times New Roman" panose="02020603050405020304" pitchFamily="18" charset="0"/>
              </a:rPr>
              <a:t>NDVI) </a:t>
            </a:r>
          </a:p>
          <a:p>
            <a:pPr>
              <a:lnSpc>
                <a:spcPct val="150000"/>
              </a:lnSpc>
              <a:buFont typeface="+mj-lt"/>
              <a:buAutoNum type="arabicPeriod"/>
            </a:pPr>
            <a:r>
              <a:rPr lang="en-IN" dirty="0">
                <a:latin typeface="Times New Roman" panose="02020603050405020304" pitchFamily="18" charset="0"/>
                <a:cs typeface="Times New Roman" panose="02020603050405020304" pitchFamily="18" charset="0"/>
              </a:rPr>
              <a:t>Identify vegetation loss regions </a:t>
            </a:r>
          </a:p>
          <a:p>
            <a:pPr>
              <a:lnSpc>
                <a:spcPct val="150000"/>
              </a:lnSpc>
              <a:buFont typeface="+mj-lt"/>
              <a:buAutoNum type="arabicPeriod"/>
            </a:pPr>
            <a:r>
              <a:rPr lang="en-IN" dirty="0">
                <a:latin typeface="Times New Roman" panose="02020603050405020304" pitchFamily="18" charset="0"/>
                <a:cs typeface="Times New Roman" panose="02020603050405020304" pitchFamily="18" charset="0"/>
              </a:rPr>
              <a:t>Apply clustering &amp; filtering </a:t>
            </a:r>
          </a:p>
          <a:p>
            <a:pPr>
              <a:lnSpc>
                <a:spcPct val="150000"/>
              </a:lnSpc>
              <a:buFont typeface="+mj-lt"/>
              <a:buAutoNum type="arabicPeriod"/>
            </a:pPr>
            <a:r>
              <a:rPr lang="en-IN" dirty="0">
                <a:latin typeface="Times New Roman" panose="02020603050405020304" pitchFamily="18" charset="0"/>
                <a:cs typeface="Times New Roman" panose="02020603050405020304" pitchFamily="18" charset="0"/>
              </a:rPr>
              <a:t>Flag suspicious areas </a:t>
            </a:r>
          </a:p>
          <a:p>
            <a:pPr>
              <a:lnSpc>
                <a:spcPct val="150000"/>
              </a:lnSpc>
              <a:buFont typeface="+mj-lt"/>
              <a:buAutoNum type="arabicPeriod"/>
            </a:pPr>
            <a:r>
              <a:rPr lang="en-IN" dirty="0">
                <a:latin typeface="Times New Roman" panose="02020603050405020304" pitchFamily="18" charset="0"/>
                <a:cs typeface="Times New Roman" panose="02020603050405020304" pitchFamily="18" charset="0"/>
              </a:rPr>
              <a:t>Store results and visualize on dashboard</a:t>
            </a:r>
          </a:p>
        </p:txBody>
      </p:sp>
    </p:spTree>
    <p:extLst>
      <p:ext uri="{BB962C8B-B14F-4D97-AF65-F5344CB8AC3E}">
        <p14:creationId xmlns:p14="http://schemas.microsoft.com/office/powerpoint/2010/main" val="241406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687" y="321194"/>
            <a:ext cx="5714984" cy="6037044"/>
          </a:xfrm>
          <a:prstGeom prst="rect">
            <a:avLst/>
          </a:prstGeom>
        </p:spPr>
      </p:pic>
      <p:sp>
        <p:nvSpPr>
          <p:cNvPr id="5" name="Rectangle 4"/>
          <p:cNvSpPr/>
          <p:nvPr/>
        </p:nvSpPr>
        <p:spPr>
          <a:xfrm>
            <a:off x="8209280" y="111760"/>
            <a:ext cx="6096000" cy="1061829"/>
          </a:xfrm>
          <a:prstGeom prst="rect">
            <a:avLst/>
          </a:prstGeom>
        </p:spPr>
        <p:txBody>
          <a:bodyPr>
            <a:spAutoFit/>
          </a:bodyPr>
          <a:lstStyle/>
          <a:p>
            <a:r>
              <a:rPr lang="en-IN" sz="900" b="1" dirty="0"/>
              <a:t>1. Data Acquisition</a:t>
            </a:r>
          </a:p>
          <a:p>
            <a:r>
              <a:rPr lang="en-IN" sz="900" dirty="0"/>
              <a:t>Satellite data is fetched using: </a:t>
            </a:r>
          </a:p>
          <a:p>
            <a:pPr lvl="1"/>
            <a:r>
              <a:rPr lang="en-IN" sz="900" dirty="0"/>
              <a:t>Google Earth Engine </a:t>
            </a:r>
          </a:p>
          <a:p>
            <a:pPr lvl="1"/>
            <a:r>
              <a:rPr lang="en-IN" sz="900" dirty="0"/>
              <a:t>Landsat / Sentinel-2 datasets </a:t>
            </a:r>
          </a:p>
          <a:p>
            <a:r>
              <a:rPr lang="en-IN" sz="900" dirty="0"/>
              <a:t>Input: </a:t>
            </a:r>
          </a:p>
          <a:p>
            <a:pPr lvl="1"/>
            <a:r>
              <a:rPr lang="en-IN" sz="900" dirty="0"/>
              <a:t>Region (</a:t>
            </a:r>
            <a:r>
              <a:rPr lang="en-IN" sz="900" dirty="0" err="1"/>
              <a:t>GeoJSON</a:t>
            </a:r>
            <a:r>
              <a:rPr lang="en-IN" sz="900" dirty="0"/>
              <a:t> / bounding box) </a:t>
            </a:r>
          </a:p>
          <a:p>
            <a:pPr lvl="1"/>
            <a:r>
              <a:rPr lang="en-IN" sz="900" dirty="0"/>
              <a:t>Time range (T1, T2)</a:t>
            </a:r>
          </a:p>
        </p:txBody>
      </p:sp>
      <p:cxnSp>
        <p:nvCxnSpPr>
          <p:cNvPr id="9" name="Straight Arrow Connector 8"/>
          <p:cNvCxnSpPr/>
          <p:nvPr/>
        </p:nvCxnSpPr>
        <p:spPr>
          <a:xfrm>
            <a:off x="4257040" y="508000"/>
            <a:ext cx="378968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8209280" y="1419492"/>
            <a:ext cx="6096000" cy="646331"/>
          </a:xfrm>
          <a:prstGeom prst="rect">
            <a:avLst/>
          </a:prstGeom>
        </p:spPr>
        <p:txBody>
          <a:bodyPr>
            <a:spAutoFit/>
          </a:bodyPr>
          <a:lstStyle/>
          <a:p>
            <a:r>
              <a:rPr lang="en-US" sz="900" b="1" dirty="0"/>
              <a:t>2. Preprocessing</a:t>
            </a:r>
          </a:p>
          <a:p>
            <a:pPr>
              <a:buFont typeface="Arial" panose="020B0604020202020204" pitchFamily="34" charset="0"/>
              <a:buChar char="•"/>
            </a:pPr>
            <a:r>
              <a:rPr lang="en-US" sz="900" dirty="0"/>
              <a:t>Cloud masking to remove noisy pixels </a:t>
            </a:r>
          </a:p>
          <a:p>
            <a:pPr>
              <a:buFont typeface="Arial" panose="020B0604020202020204" pitchFamily="34" charset="0"/>
              <a:buChar char="•"/>
            </a:pPr>
            <a:r>
              <a:rPr lang="en-US" sz="900" dirty="0"/>
              <a:t>Image normalization for consistency </a:t>
            </a:r>
          </a:p>
          <a:p>
            <a:pPr>
              <a:buFont typeface="Arial" panose="020B0604020202020204" pitchFamily="34" charset="0"/>
              <a:buChar char="•"/>
            </a:pPr>
            <a:r>
              <a:rPr lang="en-US" sz="900" dirty="0"/>
              <a:t>Tiling (256×256 patches) for performance</a:t>
            </a:r>
          </a:p>
        </p:txBody>
      </p:sp>
      <p:cxnSp>
        <p:nvCxnSpPr>
          <p:cNvPr id="11" name="Straight Arrow Connector 10"/>
          <p:cNvCxnSpPr/>
          <p:nvPr/>
        </p:nvCxnSpPr>
        <p:spPr>
          <a:xfrm>
            <a:off x="4257040" y="1742657"/>
            <a:ext cx="378968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8209280" y="2341988"/>
            <a:ext cx="6096000" cy="784830"/>
          </a:xfrm>
          <a:prstGeom prst="rect">
            <a:avLst/>
          </a:prstGeom>
        </p:spPr>
        <p:txBody>
          <a:bodyPr>
            <a:spAutoFit/>
          </a:bodyPr>
          <a:lstStyle/>
          <a:p>
            <a:r>
              <a:rPr lang="en-IN" sz="900" b="1" dirty="0"/>
              <a:t>3. Vegetation Analysis (NDVI)</a:t>
            </a:r>
          </a:p>
          <a:p>
            <a:r>
              <a:rPr lang="en-IN" sz="900" dirty="0"/>
              <a:t>​</a:t>
            </a:r>
          </a:p>
          <a:p>
            <a:endParaRPr lang="en-IN" sz="900" dirty="0"/>
          </a:p>
          <a:p>
            <a:pPr>
              <a:buFont typeface="Arial" panose="020B0604020202020204" pitchFamily="34" charset="0"/>
              <a:buChar char="•"/>
            </a:pPr>
            <a:r>
              <a:rPr lang="en-IN" sz="900" dirty="0"/>
              <a:t>Calculates vegetation density using spectral bands </a:t>
            </a:r>
          </a:p>
          <a:p>
            <a:pPr>
              <a:buFont typeface="Arial" panose="020B0604020202020204" pitchFamily="34" charset="0"/>
              <a:buChar char="•"/>
            </a:pPr>
            <a:r>
              <a:rPr lang="en-IN" sz="900" dirty="0"/>
              <a:t>Generates NDVI </a:t>
            </a:r>
            <a:r>
              <a:rPr lang="en-IN" sz="900" dirty="0" err="1"/>
              <a:t>heatmap</a:t>
            </a:r>
            <a:endParaRPr lang="en-IN" sz="900" dirty="0"/>
          </a:p>
        </p:txBody>
      </p:sp>
      <p:pic>
        <p:nvPicPr>
          <p:cNvPr id="20" name="Picture 19"/>
          <p:cNvPicPr>
            <a:picLocks noChangeAspect="1"/>
          </p:cNvPicPr>
          <p:nvPr/>
        </p:nvPicPr>
        <p:blipFill>
          <a:blip r:embed="rId3"/>
          <a:stretch>
            <a:fillRect/>
          </a:stretch>
        </p:blipFill>
        <p:spPr>
          <a:xfrm>
            <a:off x="8359375" y="2544373"/>
            <a:ext cx="987825" cy="200190"/>
          </a:xfrm>
          <a:prstGeom prst="rect">
            <a:avLst/>
          </a:prstGeom>
        </p:spPr>
      </p:pic>
      <p:sp>
        <p:nvSpPr>
          <p:cNvPr id="21" name="Rectangle 20"/>
          <p:cNvSpPr/>
          <p:nvPr/>
        </p:nvSpPr>
        <p:spPr>
          <a:xfrm>
            <a:off x="8209280" y="3225908"/>
            <a:ext cx="6096000" cy="646331"/>
          </a:xfrm>
          <a:prstGeom prst="rect">
            <a:avLst/>
          </a:prstGeom>
        </p:spPr>
        <p:txBody>
          <a:bodyPr>
            <a:spAutoFit/>
          </a:bodyPr>
          <a:lstStyle/>
          <a:p>
            <a:r>
              <a:rPr lang="en-IN" sz="900" b="1" dirty="0"/>
              <a:t>4. Change Detection</a:t>
            </a:r>
            <a:r>
              <a:rPr lang="en-IN" sz="900" dirty="0"/>
              <a:t>​</a:t>
            </a:r>
          </a:p>
          <a:p>
            <a:r>
              <a:rPr lang="el-GR" sz="900" dirty="0"/>
              <a:t>Δ</a:t>
            </a:r>
            <a:r>
              <a:rPr lang="en-IN" sz="900" dirty="0"/>
              <a:t>NDVI=NDVIT2​−NDVIT1</a:t>
            </a:r>
          </a:p>
          <a:p>
            <a:r>
              <a:rPr lang="en-IN" sz="900" dirty="0"/>
              <a:t>​</a:t>
            </a:r>
            <a:r>
              <a:rPr lang="en-US" sz="900" dirty="0"/>
              <a:t>Compares vegetation over time Threshold applied: </a:t>
            </a:r>
          </a:p>
          <a:p>
            <a:r>
              <a:rPr lang="en-US" sz="900" dirty="0"/>
              <a:t>ΔNDVI &lt; -0.3 → vegetation loss</a:t>
            </a:r>
            <a:endParaRPr lang="en-IN" sz="900" dirty="0"/>
          </a:p>
        </p:txBody>
      </p:sp>
      <p:cxnSp>
        <p:nvCxnSpPr>
          <p:cNvPr id="24" name="Straight Arrow Connector 23"/>
          <p:cNvCxnSpPr/>
          <p:nvPr/>
        </p:nvCxnSpPr>
        <p:spPr>
          <a:xfrm>
            <a:off x="4257040" y="3215857"/>
            <a:ext cx="378968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8209280" y="3971329"/>
            <a:ext cx="6096000" cy="1615827"/>
          </a:xfrm>
          <a:prstGeom prst="rect">
            <a:avLst/>
          </a:prstGeom>
        </p:spPr>
        <p:txBody>
          <a:bodyPr>
            <a:spAutoFit/>
          </a:bodyPr>
          <a:lstStyle/>
          <a:p>
            <a:pPr lvl="0" eaLnBrk="0" fontAlgn="base" hangingPunct="0">
              <a:spcBef>
                <a:spcPct val="0"/>
              </a:spcBef>
              <a:spcAft>
                <a:spcPct val="0"/>
              </a:spcAft>
            </a:pPr>
            <a:r>
              <a:rPr kumimoji="0" lang="en-US" altLang="en-US" sz="900" b="1" i="0" u="none" strike="noStrike" cap="none" normalizeH="0" baseline="0" dirty="0">
                <a:ln>
                  <a:noFill/>
                </a:ln>
                <a:solidFill>
                  <a:schemeClr val="tx1"/>
                </a:solidFill>
                <a:effectLst/>
                <a:latin typeface="Arial" panose="020B0604020202020204" pitchFamily="34" charset="0"/>
              </a:rPr>
              <a:t>7. Storage &amp; API Layer</a:t>
            </a:r>
          </a:p>
          <a:p>
            <a:pPr lvl="0" eaLnBrk="0" fontAlgn="base" hangingPunct="0">
              <a:spcBef>
                <a:spcPct val="0"/>
              </a:spcBef>
              <a:spcAft>
                <a:spcPct val="0"/>
              </a:spcAft>
              <a:buFontTx/>
              <a:buChar char="•"/>
            </a:pPr>
            <a:r>
              <a:rPr kumimoji="0" lang="en-US" altLang="en-US" sz="900" b="0" i="0" u="none" strike="noStrike" cap="none" normalizeH="0" baseline="0" dirty="0">
                <a:ln>
                  <a:noFill/>
                </a:ln>
                <a:solidFill>
                  <a:schemeClr val="tx1"/>
                </a:solidFill>
                <a:effectLst/>
                <a:latin typeface="Arial" panose="020B0604020202020204" pitchFamily="34" charset="0"/>
              </a:rPr>
              <a:t>Database: PostgreSQL + </a:t>
            </a:r>
            <a:r>
              <a:rPr kumimoji="0" lang="en-US" altLang="en-US" sz="900" b="0" i="0" u="none" strike="noStrike" cap="none" normalizeH="0" baseline="0" dirty="0" err="1">
                <a:ln>
                  <a:noFill/>
                </a:ln>
                <a:solidFill>
                  <a:schemeClr val="tx1"/>
                </a:solidFill>
                <a:effectLst/>
                <a:latin typeface="Arial" panose="020B0604020202020204" pitchFamily="34" charset="0"/>
              </a:rPr>
              <a:t>PostGIS</a:t>
            </a:r>
            <a:r>
              <a:rPr kumimoji="0" lang="en-US" altLang="en-US" sz="900" b="0" i="0" u="none" strike="noStrike" cap="none" normalizeH="0" baseline="0" dirty="0">
                <a:ln>
                  <a:noFill/>
                </a:ln>
                <a:solidFill>
                  <a:schemeClr val="tx1"/>
                </a:solidFill>
                <a:effectLst/>
                <a:latin typeface="Arial" panose="020B0604020202020204" pitchFamily="34" charset="0"/>
              </a:rPr>
              <a:t> </a:t>
            </a:r>
            <a:endParaRPr lang="en-US" altLang="en-US" sz="900" dirty="0">
              <a:latin typeface="Arial" panose="020B0604020202020204" pitchFamily="34" charset="0"/>
            </a:endParaRPr>
          </a:p>
          <a:p>
            <a:pPr lvl="0" eaLnBrk="0" fontAlgn="base" hangingPunct="0">
              <a:spcBef>
                <a:spcPct val="0"/>
              </a:spcBef>
              <a:spcAft>
                <a:spcPct val="0"/>
              </a:spcAft>
              <a:buFontTx/>
              <a:buChar char="•"/>
            </a:pPr>
            <a:r>
              <a:rPr lang="en-US" altLang="en-US" sz="900" dirty="0">
                <a:latin typeface="Arial" panose="020B0604020202020204" pitchFamily="34" charset="0"/>
              </a:rPr>
              <a:t>Stores: </a:t>
            </a:r>
          </a:p>
          <a:p>
            <a:pPr lvl="1" eaLnBrk="0" fontAlgn="base" hangingPunct="0">
              <a:spcBef>
                <a:spcPct val="0"/>
              </a:spcBef>
              <a:spcAft>
                <a:spcPct val="0"/>
              </a:spcAft>
              <a:buFontTx/>
              <a:buChar char="•"/>
            </a:pPr>
            <a:r>
              <a:rPr lang="en-US" altLang="en-US" sz="900" dirty="0">
                <a:latin typeface="Arial" panose="020B0604020202020204" pitchFamily="34" charset="0"/>
              </a:rPr>
              <a:t>Regions </a:t>
            </a:r>
          </a:p>
          <a:p>
            <a:pPr lvl="1" eaLnBrk="0" fontAlgn="base" hangingPunct="0">
              <a:spcBef>
                <a:spcPct val="0"/>
              </a:spcBef>
              <a:spcAft>
                <a:spcPct val="0"/>
              </a:spcAft>
              <a:buFontTx/>
              <a:buChar char="•"/>
            </a:pPr>
            <a:r>
              <a:rPr lang="en-US" altLang="en-US" sz="900" dirty="0">
                <a:latin typeface="Arial" panose="020B0604020202020204" pitchFamily="34" charset="0"/>
              </a:rPr>
              <a:t>Alerts </a:t>
            </a:r>
          </a:p>
          <a:p>
            <a:pPr lvl="1" eaLnBrk="0" fontAlgn="base" hangingPunct="0">
              <a:spcBef>
                <a:spcPct val="0"/>
              </a:spcBef>
              <a:spcAft>
                <a:spcPct val="0"/>
              </a:spcAft>
              <a:buFontTx/>
              <a:buChar char="•"/>
            </a:pPr>
            <a:r>
              <a:rPr lang="en-US" altLang="en-US" sz="900" dirty="0">
                <a:latin typeface="Arial" panose="020B0604020202020204" pitchFamily="34" charset="0"/>
              </a:rPr>
              <a:t>Processed images </a:t>
            </a:r>
          </a:p>
          <a:p>
            <a:pPr lvl="0" eaLnBrk="0" fontAlgn="base" hangingPunct="0">
              <a:spcBef>
                <a:spcPct val="0"/>
              </a:spcBef>
              <a:spcAft>
                <a:spcPct val="0"/>
              </a:spcAft>
              <a:buFontTx/>
              <a:buChar char="•"/>
            </a:pPr>
            <a:r>
              <a:rPr lang="en-US" altLang="en-US" sz="900" dirty="0">
                <a:latin typeface="Arial" panose="020B0604020202020204" pitchFamily="34" charset="0"/>
              </a:rPr>
              <a:t>APIs: </a:t>
            </a:r>
          </a:p>
          <a:p>
            <a:pPr lvl="1" eaLnBrk="0" fontAlgn="base" hangingPunct="0">
              <a:spcBef>
                <a:spcPct val="0"/>
              </a:spcBef>
              <a:spcAft>
                <a:spcPct val="0"/>
              </a:spcAft>
              <a:buFontTx/>
              <a:buChar char="•"/>
            </a:pPr>
            <a:r>
              <a:rPr kumimoji="0" lang="en-US" altLang="en-US" sz="900" b="0" i="0" u="none" strike="noStrike" cap="none" normalizeH="0" baseline="0" dirty="0">
                <a:ln>
                  <a:noFill/>
                </a:ln>
                <a:solidFill>
                  <a:schemeClr val="tx1"/>
                </a:solidFill>
                <a:effectLst/>
                <a:latin typeface="Arial Unicode MS"/>
              </a:rPr>
              <a:t>/analyze</a:t>
            </a:r>
            <a:r>
              <a:rPr kumimoji="0" lang="en-US" altLang="en-US" sz="900" b="0" i="0" u="none" strike="noStrike" cap="none" normalizeH="0" baseline="0" dirty="0">
                <a:ln>
                  <a:noFill/>
                </a:ln>
                <a:solidFill>
                  <a:schemeClr val="tx1"/>
                </a:solidFill>
                <a:effectLst/>
              </a:rPr>
              <a:t> </a:t>
            </a:r>
            <a:endParaRPr lang="en-US" altLang="en-US" sz="900" dirty="0">
              <a:latin typeface="Arial" panose="020B0604020202020204" pitchFamily="34" charset="0"/>
            </a:endParaRPr>
          </a:p>
          <a:p>
            <a:pPr lvl="1" eaLnBrk="0" fontAlgn="base" hangingPunct="0">
              <a:spcBef>
                <a:spcPct val="0"/>
              </a:spcBef>
              <a:spcAft>
                <a:spcPct val="0"/>
              </a:spcAft>
              <a:buFontTx/>
              <a:buChar char="•"/>
            </a:pPr>
            <a:r>
              <a:rPr kumimoji="0" lang="en-US" altLang="en-US" sz="900" b="0" i="0" u="none" strike="noStrike" cap="none" normalizeH="0" baseline="0" dirty="0">
                <a:ln>
                  <a:noFill/>
                </a:ln>
                <a:solidFill>
                  <a:schemeClr val="tx1"/>
                </a:solidFill>
                <a:effectLst/>
                <a:latin typeface="Arial Unicode MS"/>
              </a:rPr>
              <a:t>/alerts</a:t>
            </a:r>
            <a:r>
              <a:rPr kumimoji="0" lang="en-US" altLang="en-US" sz="900" b="0" i="0" u="none" strike="noStrike" cap="none" normalizeH="0" baseline="0" dirty="0">
                <a:ln>
                  <a:noFill/>
                </a:ln>
                <a:solidFill>
                  <a:schemeClr val="tx1"/>
                </a:solidFill>
                <a:effectLst/>
              </a:rPr>
              <a:t> </a:t>
            </a:r>
            <a:endParaRPr lang="en-US" altLang="en-US" sz="900" dirty="0">
              <a:latin typeface="Arial" panose="020B0604020202020204" pitchFamily="34" charset="0"/>
            </a:endParaRPr>
          </a:p>
          <a:p>
            <a:pPr lvl="1" eaLnBrk="0" fontAlgn="base" hangingPunct="0">
              <a:spcBef>
                <a:spcPct val="0"/>
              </a:spcBef>
              <a:spcAft>
                <a:spcPct val="0"/>
              </a:spcAft>
              <a:buFontTx/>
              <a:buChar char="•"/>
            </a:pPr>
            <a:r>
              <a:rPr kumimoji="0" lang="en-US" altLang="en-US" sz="900" b="0" i="0" u="none" strike="noStrike" cap="none" normalizeH="0" baseline="0" dirty="0">
                <a:ln>
                  <a:noFill/>
                </a:ln>
                <a:solidFill>
                  <a:schemeClr val="tx1"/>
                </a:solidFill>
                <a:effectLst/>
                <a:latin typeface="Arial Unicode MS"/>
              </a:rPr>
              <a:t>/regions</a:t>
            </a:r>
            <a:endParaRPr kumimoji="0" lang="en-US" altLang="en-US" sz="900" b="0" i="0" u="none" strike="noStrike" cap="none" normalizeH="0" baseline="0" dirty="0">
              <a:ln>
                <a:noFill/>
              </a:ln>
              <a:solidFill>
                <a:schemeClr val="tx1"/>
              </a:solidFill>
              <a:effectLst/>
            </a:endParaRPr>
          </a:p>
          <a:p>
            <a:pPr lvl="0" eaLnBrk="0" fontAlgn="base" hangingPunct="0">
              <a:spcBef>
                <a:spcPct val="0"/>
              </a:spcBef>
              <a:spcAft>
                <a:spcPct val="0"/>
              </a:spcAft>
            </a:pPr>
            <a:endParaRPr lang="en-US" altLang="en-US" sz="900" dirty="0">
              <a:latin typeface="Arial" panose="020B0604020202020204" pitchFamily="34" charset="0"/>
            </a:endParaRPr>
          </a:p>
        </p:txBody>
      </p:sp>
      <p:cxnSp>
        <p:nvCxnSpPr>
          <p:cNvPr id="27" name="Straight Arrow Connector 26"/>
          <p:cNvCxnSpPr/>
          <p:nvPr/>
        </p:nvCxnSpPr>
        <p:spPr>
          <a:xfrm>
            <a:off x="5394960" y="4871937"/>
            <a:ext cx="26517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59EB604-F230-009B-4E45-BE5002B949D3}"/>
              </a:ext>
            </a:extLst>
          </p:cNvPr>
          <p:cNvSpPr txBox="1"/>
          <p:nvPr/>
        </p:nvSpPr>
        <p:spPr>
          <a:xfrm>
            <a:off x="4257040" y="-8238"/>
            <a:ext cx="2868690" cy="369332"/>
          </a:xfrm>
          <a:prstGeom prst="rect">
            <a:avLst/>
          </a:prstGeom>
          <a:noFill/>
        </p:spPr>
        <p:txBody>
          <a:bodyPr wrap="square" rtlCol="0">
            <a:spAutoFit/>
          </a:bodyPr>
          <a:lstStyle/>
          <a:p>
            <a:r>
              <a:rPr lang="en-IN" dirty="0"/>
              <a:t>     Implementation</a:t>
            </a:r>
          </a:p>
        </p:txBody>
      </p:sp>
    </p:spTree>
    <p:extLst>
      <p:ext uri="{BB962C8B-B14F-4D97-AF65-F5344CB8AC3E}">
        <p14:creationId xmlns:p14="http://schemas.microsoft.com/office/powerpoint/2010/main" val="3091931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29760" y="233680"/>
            <a:ext cx="3377848" cy="646331"/>
          </a:xfrm>
          <a:prstGeom prst="rect">
            <a:avLst/>
          </a:prstGeom>
          <a:noFill/>
        </p:spPr>
        <p:txBody>
          <a:bodyPr wrap="none" rtlCol="0">
            <a:spAutoFit/>
          </a:bodyPr>
          <a:lstStyle/>
          <a:p>
            <a:r>
              <a:rPr lang="en-US" sz="3600" b="1" dirty="0">
                <a:latin typeface="Times New Roman" panose="02020603050405020304" pitchFamily="18" charset="0"/>
                <a:cs typeface="Times New Roman" panose="02020603050405020304" pitchFamily="18" charset="0"/>
              </a:rPr>
              <a:t>Expected Result</a:t>
            </a:r>
            <a:endParaRPr lang="en-IN" sz="3600" b="1"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904240" y="951131"/>
            <a:ext cx="8177239" cy="378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Accurate detection of vegetation loss using satellite imagery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Early identification of suspicious deforestation activities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Automated monitoring of large forest regions without manual intervention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Interactive dashboard for visualizing NDVI and change detection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Real-time or periodic alerts for detected forest loss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Centralized geospatial database for storing and tracking deforestation events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Efficient end-to-end pipeline from satellite data to actionable insights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Scalable system capable of handling large geographic areas </a:t>
            </a:r>
          </a:p>
        </p:txBody>
      </p:sp>
    </p:spTree>
    <p:extLst>
      <p:ext uri="{BB962C8B-B14F-4D97-AF65-F5344CB8AC3E}">
        <p14:creationId xmlns:p14="http://schemas.microsoft.com/office/powerpoint/2010/main" val="865381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12640" y="23782"/>
            <a:ext cx="2805255" cy="646331"/>
          </a:xfrm>
          <a:prstGeom prst="rect">
            <a:avLst/>
          </a:prstGeom>
          <a:noFill/>
        </p:spPr>
        <p:txBody>
          <a:bodyPr wrap="none" rtlCol="0">
            <a:spAutoFit/>
          </a:bodyPr>
          <a:lstStyle/>
          <a:p>
            <a:r>
              <a:rPr lang="en-US" sz="3600" b="1" dirty="0">
                <a:latin typeface="Times New Roman" panose="02020603050405020304" pitchFamily="18" charset="0"/>
                <a:cs typeface="Times New Roman" panose="02020603050405020304" pitchFamily="18" charset="0"/>
              </a:rPr>
              <a:t>Future Scope</a:t>
            </a:r>
            <a:endParaRPr lang="en-IN" sz="3600" b="1" dirty="0">
              <a:latin typeface="Times New Roman" panose="02020603050405020304" pitchFamily="18" charset="0"/>
              <a:cs typeface="Times New Roman" panose="02020603050405020304" pitchFamily="18" charset="0"/>
            </a:endParaRPr>
          </a:p>
        </p:txBody>
      </p:sp>
      <p:sp>
        <p:nvSpPr>
          <p:cNvPr id="22" name="Rectangle 21"/>
          <p:cNvSpPr/>
          <p:nvPr/>
        </p:nvSpPr>
        <p:spPr>
          <a:xfrm>
            <a:off x="121920" y="1044416"/>
            <a:ext cx="6096000" cy="1477328"/>
          </a:xfrm>
          <a:prstGeom prst="rect">
            <a:avLst/>
          </a:prstGeom>
        </p:spPr>
        <p:txBody>
          <a:bodyPr>
            <a:spAutoFit/>
          </a:bodyPr>
          <a:lstStyle/>
          <a:p>
            <a:r>
              <a:rPr lang="en-US" b="1" dirty="0"/>
              <a:t>• Cloud Deployment</a:t>
            </a:r>
          </a:p>
          <a:p>
            <a:pPr>
              <a:buFont typeface="Arial" panose="020B0604020202020204" pitchFamily="34" charset="0"/>
              <a:buChar char="•"/>
            </a:pPr>
            <a:r>
              <a:rPr lang="en-US" dirty="0"/>
              <a:t>Deploy the system on cloud platforms (AWS / GCP) for large-scale monitoring </a:t>
            </a:r>
          </a:p>
          <a:p>
            <a:pPr>
              <a:buFont typeface="Arial" panose="020B0604020202020204" pitchFamily="34" charset="0"/>
              <a:buChar char="•"/>
            </a:pPr>
            <a:r>
              <a:rPr lang="en-US" dirty="0"/>
              <a:t>Enable real-time processing of multiple regions simultaneously </a:t>
            </a:r>
          </a:p>
          <a:p>
            <a:pPr>
              <a:buFont typeface="Arial" panose="020B0604020202020204" pitchFamily="34" charset="0"/>
              <a:buChar char="•"/>
            </a:pPr>
            <a:r>
              <a:rPr lang="en-US" dirty="0"/>
              <a:t>Improve scalability and accessibility for government and NGOs </a:t>
            </a:r>
          </a:p>
        </p:txBody>
      </p:sp>
      <p:sp>
        <p:nvSpPr>
          <p:cNvPr id="23" name="Rectangle 22"/>
          <p:cNvSpPr/>
          <p:nvPr/>
        </p:nvSpPr>
        <p:spPr>
          <a:xfrm>
            <a:off x="121920" y="2564448"/>
            <a:ext cx="6096000" cy="1477328"/>
          </a:xfrm>
          <a:prstGeom prst="rect">
            <a:avLst/>
          </a:prstGeom>
        </p:spPr>
        <p:txBody>
          <a:bodyPr>
            <a:spAutoFit/>
          </a:bodyPr>
          <a:lstStyle/>
          <a:p>
            <a:r>
              <a:rPr lang="en-US" b="1" dirty="0"/>
              <a:t>• Real-Time Monitoring System</a:t>
            </a:r>
          </a:p>
          <a:p>
            <a:pPr>
              <a:buFont typeface="Arial" panose="020B0604020202020204" pitchFamily="34" charset="0"/>
              <a:buChar char="•"/>
            </a:pPr>
            <a:r>
              <a:rPr lang="en-US" dirty="0"/>
              <a:t>Implement automated weekly/daily satellite scans </a:t>
            </a:r>
          </a:p>
          <a:p>
            <a:pPr>
              <a:buFont typeface="Arial" panose="020B0604020202020204" pitchFamily="34" charset="0"/>
              <a:buChar char="•"/>
            </a:pPr>
            <a:r>
              <a:rPr lang="en-US" dirty="0"/>
              <a:t>Detect deforestation events as soon as new imagery is available </a:t>
            </a:r>
          </a:p>
          <a:p>
            <a:pPr>
              <a:buFont typeface="Arial" panose="020B0604020202020204" pitchFamily="34" charset="0"/>
              <a:buChar char="•"/>
            </a:pPr>
            <a:r>
              <a:rPr lang="en-US" dirty="0"/>
              <a:t>Trigger instant alerts for rapid response</a:t>
            </a:r>
          </a:p>
        </p:txBody>
      </p:sp>
      <p:sp>
        <p:nvSpPr>
          <p:cNvPr id="24" name="Rectangle 23"/>
          <p:cNvSpPr/>
          <p:nvPr/>
        </p:nvSpPr>
        <p:spPr>
          <a:xfrm>
            <a:off x="121920" y="4084480"/>
            <a:ext cx="6096000" cy="1477328"/>
          </a:xfrm>
          <a:prstGeom prst="rect">
            <a:avLst/>
          </a:prstGeom>
        </p:spPr>
        <p:txBody>
          <a:bodyPr>
            <a:spAutoFit/>
          </a:bodyPr>
          <a:lstStyle/>
          <a:p>
            <a:r>
              <a:rPr lang="en-US" b="1" dirty="0"/>
              <a:t>• Integration with Government &amp; Environmental Systems</a:t>
            </a:r>
          </a:p>
          <a:p>
            <a:pPr>
              <a:buFont typeface="Arial" panose="020B0604020202020204" pitchFamily="34" charset="0"/>
              <a:buChar char="•"/>
            </a:pPr>
            <a:r>
              <a:rPr lang="en-US" dirty="0"/>
              <a:t>Integrate with forest department databases and GIS systems </a:t>
            </a:r>
          </a:p>
          <a:p>
            <a:pPr>
              <a:buFont typeface="Arial" panose="020B0604020202020204" pitchFamily="34" charset="0"/>
              <a:buChar char="•"/>
            </a:pPr>
            <a:r>
              <a:rPr lang="en-US" dirty="0"/>
              <a:t>Support policy enforcement and environmental compliance tracking </a:t>
            </a:r>
          </a:p>
          <a:p>
            <a:pPr>
              <a:buFont typeface="Arial" panose="020B0604020202020204" pitchFamily="34" charset="0"/>
              <a:buChar char="•"/>
            </a:pPr>
            <a:r>
              <a:rPr lang="en-US" dirty="0"/>
              <a:t>Provide data sharing APIs for NGOs and research organizations</a:t>
            </a:r>
          </a:p>
        </p:txBody>
      </p:sp>
      <p:sp>
        <p:nvSpPr>
          <p:cNvPr id="25" name="Rectangle 24"/>
          <p:cNvSpPr/>
          <p:nvPr/>
        </p:nvSpPr>
        <p:spPr>
          <a:xfrm>
            <a:off x="6441440" y="1044416"/>
            <a:ext cx="5588000" cy="2031325"/>
          </a:xfrm>
          <a:prstGeom prst="rect">
            <a:avLst/>
          </a:prstGeom>
        </p:spPr>
        <p:txBody>
          <a:bodyPr wrap="square">
            <a:spAutoFit/>
          </a:bodyPr>
          <a:lstStyle/>
          <a:p>
            <a:r>
              <a:rPr lang="en-US" b="1" dirty="0"/>
              <a:t>• </a:t>
            </a:r>
            <a:r>
              <a:rPr lang="en-US" b="1" dirty="0" err="1"/>
              <a:t>IoT</a:t>
            </a:r>
            <a:r>
              <a:rPr lang="en-US" b="1" dirty="0"/>
              <a:t> + Edge-Based Monitoring</a:t>
            </a:r>
          </a:p>
          <a:p>
            <a:pPr>
              <a:buFont typeface="Arial" panose="020B0604020202020204" pitchFamily="34" charset="0"/>
              <a:buChar char="•"/>
            </a:pPr>
            <a:r>
              <a:rPr lang="en-US" dirty="0"/>
              <a:t>Deploy lightweight edge devices for local preprocessing in remote areas </a:t>
            </a:r>
          </a:p>
          <a:p>
            <a:pPr>
              <a:buFont typeface="Arial" panose="020B0604020202020204" pitchFamily="34" charset="0"/>
              <a:buChar char="•"/>
            </a:pPr>
            <a:r>
              <a:rPr lang="en-US" dirty="0"/>
              <a:t>Use edge computing to reduce latency and bandwidth usage </a:t>
            </a:r>
          </a:p>
          <a:p>
            <a:pPr>
              <a:buFont typeface="Arial" panose="020B0604020202020204" pitchFamily="34" charset="0"/>
              <a:buChar char="•"/>
            </a:pPr>
            <a:r>
              <a:rPr lang="en-US" dirty="0"/>
              <a:t>Combine satellite data with on-ground sensors for higher accuracy</a:t>
            </a:r>
          </a:p>
        </p:txBody>
      </p:sp>
      <p:cxnSp>
        <p:nvCxnSpPr>
          <p:cNvPr id="27" name="Straight Connector 26"/>
          <p:cNvCxnSpPr/>
          <p:nvPr/>
        </p:nvCxnSpPr>
        <p:spPr>
          <a:xfrm>
            <a:off x="6248400" y="876776"/>
            <a:ext cx="0" cy="56351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6441440" y="3178016"/>
            <a:ext cx="5679440" cy="1477328"/>
          </a:xfrm>
          <a:prstGeom prst="rect">
            <a:avLst/>
          </a:prstGeom>
        </p:spPr>
        <p:txBody>
          <a:bodyPr wrap="square">
            <a:spAutoFit/>
          </a:bodyPr>
          <a:lstStyle/>
          <a:p>
            <a:r>
              <a:rPr lang="en-IN" b="1" dirty="0"/>
              <a:t>• Advanced AI/ML Models</a:t>
            </a:r>
          </a:p>
          <a:p>
            <a:pPr>
              <a:buFont typeface="Arial" panose="020B0604020202020204" pitchFamily="34" charset="0"/>
              <a:buChar char="•"/>
            </a:pPr>
            <a:r>
              <a:rPr lang="en-IN" dirty="0"/>
              <a:t>Implement deep learning models (U-Net, CNN) for precise segmentation </a:t>
            </a:r>
          </a:p>
          <a:p>
            <a:pPr>
              <a:buFont typeface="Arial" panose="020B0604020202020204" pitchFamily="34" charset="0"/>
              <a:buChar char="•"/>
            </a:pPr>
            <a:r>
              <a:rPr lang="en-IN" dirty="0"/>
              <a:t>Reduce false positives in NDVI-based detection </a:t>
            </a:r>
          </a:p>
          <a:p>
            <a:pPr>
              <a:buFont typeface="Arial" panose="020B0604020202020204" pitchFamily="34" charset="0"/>
              <a:buChar char="•"/>
            </a:pPr>
            <a:r>
              <a:rPr lang="en-IN" dirty="0"/>
              <a:t>Enable automatic classification of deforestation causes</a:t>
            </a:r>
          </a:p>
        </p:txBody>
      </p:sp>
      <p:sp>
        <p:nvSpPr>
          <p:cNvPr id="29" name="Rectangle 28"/>
          <p:cNvSpPr/>
          <p:nvPr/>
        </p:nvSpPr>
        <p:spPr>
          <a:xfrm>
            <a:off x="6441440" y="4757619"/>
            <a:ext cx="5588000" cy="1754326"/>
          </a:xfrm>
          <a:prstGeom prst="rect">
            <a:avLst/>
          </a:prstGeom>
        </p:spPr>
        <p:txBody>
          <a:bodyPr wrap="square">
            <a:spAutoFit/>
          </a:bodyPr>
          <a:lstStyle/>
          <a:p>
            <a:r>
              <a:rPr lang="en-US" b="1" dirty="0"/>
              <a:t>• Multi-Source Data Integration</a:t>
            </a:r>
          </a:p>
          <a:p>
            <a:pPr>
              <a:buFont typeface="Arial" panose="020B0604020202020204" pitchFamily="34" charset="0"/>
              <a:buChar char="•"/>
            </a:pPr>
            <a:r>
              <a:rPr lang="en-US" dirty="0"/>
              <a:t>Combine satellite imagery with: </a:t>
            </a:r>
          </a:p>
          <a:p>
            <a:pPr marL="742950" lvl="1" indent="-285750">
              <a:buFont typeface="Arial" panose="020B0604020202020204" pitchFamily="34" charset="0"/>
              <a:buChar char="•"/>
            </a:pPr>
            <a:r>
              <a:rPr lang="en-US" dirty="0"/>
              <a:t>Weather data </a:t>
            </a:r>
          </a:p>
          <a:p>
            <a:pPr marL="742950" lvl="1" indent="-285750">
              <a:buFont typeface="Arial" panose="020B0604020202020204" pitchFamily="34" charset="0"/>
              <a:buChar char="•"/>
            </a:pPr>
            <a:r>
              <a:rPr lang="en-US" dirty="0"/>
              <a:t>Topographical data </a:t>
            </a:r>
          </a:p>
          <a:p>
            <a:pPr marL="742950" lvl="1" indent="-285750">
              <a:buFont typeface="Arial" panose="020B0604020202020204" pitchFamily="34" charset="0"/>
              <a:buChar char="•"/>
            </a:pPr>
            <a:r>
              <a:rPr lang="en-US" dirty="0"/>
              <a:t>Drone imagery </a:t>
            </a:r>
          </a:p>
          <a:p>
            <a:pPr>
              <a:buFont typeface="Arial" panose="020B0604020202020204" pitchFamily="34" charset="0"/>
              <a:buChar char="•"/>
            </a:pPr>
            <a:r>
              <a:rPr lang="en-US" dirty="0"/>
              <a:t>Improve detection accuracy and contextual analysis </a:t>
            </a:r>
          </a:p>
        </p:txBody>
      </p:sp>
    </p:spTree>
    <p:extLst>
      <p:ext uri="{BB962C8B-B14F-4D97-AF65-F5344CB8AC3E}">
        <p14:creationId xmlns:p14="http://schemas.microsoft.com/office/powerpoint/2010/main" val="307640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46320" y="81280"/>
            <a:ext cx="2330766" cy="646331"/>
          </a:xfrm>
          <a:prstGeom prst="rect">
            <a:avLst/>
          </a:prstGeom>
          <a:noFill/>
        </p:spPr>
        <p:txBody>
          <a:bodyPr wrap="none" rtlCol="0">
            <a:spAutoFit/>
          </a:bodyPr>
          <a:lstStyle/>
          <a:p>
            <a:r>
              <a:rPr lang="en-US"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459262" y="1487030"/>
            <a:ext cx="11104881" cy="4442242"/>
          </a:xfrm>
          <a:prstGeom prst="rect">
            <a:avLst/>
          </a:prstGeom>
        </p:spPr>
        <p:txBody>
          <a:bodyPr wrap="square">
            <a:spAutoFit/>
          </a:bodyPr>
          <a:lstStyle/>
          <a:p>
            <a:pPr lvl="0" algn="just">
              <a:spcBef>
                <a:spcPts val="1635"/>
              </a:spcBef>
              <a:spcAft>
                <a:spcPts val="0"/>
              </a:spcAft>
              <a:buSzPct val="100000"/>
            </a:pPr>
            <a:r>
              <a:rPr lang="en-IN" dirty="0">
                <a:latin typeface="Times New Roman" panose="02020603050405020304" pitchFamily="18" charset="0"/>
                <a:ea typeface="Times New Roman" panose="02020603050405020304" pitchFamily="18" charset="0"/>
                <a:cs typeface="Times New Roman" panose="02020603050405020304" pitchFamily="18" charset="0"/>
              </a:rPr>
              <a:t>[1] G. M. Gandhi, S.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Parthiban</a:t>
            </a:r>
            <a:r>
              <a:rPr lang="en-IN" dirty="0">
                <a:latin typeface="Times New Roman" panose="02020603050405020304" pitchFamily="18" charset="0"/>
                <a:ea typeface="Times New Roman" panose="02020603050405020304" pitchFamily="18" charset="0"/>
                <a:cs typeface="Times New Roman" panose="02020603050405020304" pitchFamily="18" charset="0"/>
              </a:rPr>
              <a:t>, N.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Thummalu</a:t>
            </a:r>
            <a:r>
              <a:rPr lang="en-IN" dirty="0">
                <a:latin typeface="Times New Roman" panose="02020603050405020304" pitchFamily="18" charset="0"/>
                <a:ea typeface="Times New Roman" panose="02020603050405020304" pitchFamily="18" charset="0"/>
                <a:cs typeface="Times New Roman" panose="02020603050405020304" pitchFamily="18" charset="0"/>
              </a:rPr>
              <a:t>, and A. Christy, “NDVI: Vegetation change detection using remote sensing and GIS,” International Journal of Scientific &amp; Engineering Research, vol. 6, no. 5, pp. 1–6, 2015.</a:t>
            </a:r>
          </a:p>
          <a:p>
            <a:pPr lvl="0" algn="just">
              <a:spcBef>
                <a:spcPts val="1635"/>
              </a:spcBef>
              <a:spcAft>
                <a:spcPts val="0"/>
              </a:spcAft>
              <a:buSzPct val="100000"/>
            </a:pPr>
            <a:r>
              <a:rPr lang="en-IN" dirty="0">
                <a:latin typeface="Times New Roman" panose="02020603050405020304" pitchFamily="18" charset="0"/>
                <a:ea typeface="Times New Roman" panose="02020603050405020304" pitchFamily="18" charset="0"/>
                <a:cs typeface="Times New Roman" panose="02020603050405020304" pitchFamily="18" charset="0"/>
              </a:rPr>
              <a:t> [2] D. L. Torres et al., “Deep learning for deforestation detection in satellite imagery,” Remote Sensing, vol. 13, no. 5, pp. 1–18, 2021.</a:t>
            </a:r>
          </a:p>
          <a:p>
            <a:pPr lvl="0" algn="just">
              <a:spcBef>
                <a:spcPts val="1635"/>
              </a:spcBef>
              <a:spcAft>
                <a:spcPts val="0"/>
              </a:spcAft>
              <a:buSzPct val="100000"/>
            </a:pPr>
            <a:r>
              <a:rPr lang="en-IN" dirty="0">
                <a:latin typeface="Times New Roman" panose="02020603050405020304" pitchFamily="18" charset="0"/>
                <a:ea typeface="Times New Roman" panose="02020603050405020304" pitchFamily="18" charset="0"/>
                <a:cs typeface="Times New Roman" panose="02020603050405020304" pitchFamily="18" charset="0"/>
              </a:rPr>
              <a:t> [3] K. Bora et al., “Spatiotemporal analysis of forest cover change using NDVI and GIS,” Environmental Monitoring Journal, 2025. </a:t>
            </a:r>
          </a:p>
          <a:p>
            <a:pPr lvl="0" algn="just">
              <a:spcBef>
                <a:spcPts val="1635"/>
              </a:spcBef>
              <a:spcAft>
                <a:spcPts val="0"/>
              </a:spcAft>
              <a:buSzPct val="100000"/>
            </a:pPr>
            <a:r>
              <a:rPr lang="en-IN" dirty="0">
                <a:latin typeface="Times New Roman" panose="02020603050405020304" pitchFamily="18" charset="0"/>
                <a:ea typeface="Times New Roman" panose="02020603050405020304" pitchFamily="18" charset="0"/>
                <a:cs typeface="Times New Roman" panose="02020603050405020304" pitchFamily="18" charset="0"/>
              </a:rPr>
              <a:t>[4] A.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Heidari</a:t>
            </a:r>
            <a:r>
              <a:rPr lang="en-IN" dirty="0">
                <a:latin typeface="Times New Roman" panose="02020603050405020304" pitchFamily="18" charset="0"/>
                <a:ea typeface="Times New Roman" panose="02020603050405020304" pitchFamily="18" charset="0"/>
                <a:cs typeface="Times New Roman" panose="02020603050405020304" pitchFamily="18" charset="0"/>
              </a:rPr>
              <a:t> et al., “3D convolutional neural networks for forest change detection using multi-temporal satellite imagery,” IEEE Geoscience and Remote Sensing, 2025. </a:t>
            </a:r>
          </a:p>
          <a:p>
            <a:pPr lvl="0" algn="just">
              <a:spcBef>
                <a:spcPts val="1635"/>
              </a:spcBef>
              <a:spcAft>
                <a:spcPts val="0"/>
              </a:spcAft>
              <a:buSzPct val="100000"/>
            </a:pPr>
            <a:r>
              <a:rPr lang="en-IN" dirty="0">
                <a:latin typeface="Times New Roman" panose="02020603050405020304" pitchFamily="18" charset="0"/>
                <a:ea typeface="Times New Roman" panose="02020603050405020304" pitchFamily="18" charset="0"/>
                <a:cs typeface="Times New Roman" panose="02020603050405020304" pitchFamily="18" charset="0"/>
              </a:rPr>
              <a:t>[5] Y. A.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Singgalen</a:t>
            </a:r>
            <a:r>
              <a:rPr lang="en-IN" dirty="0">
                <a:latin typeface="Times New Roman" panose="02020603050405020304" pitchFamily="18" charset="0"/>
                <a:ea typeface="Times New Roman" panose="02020603050405020304" pitchFamily="18" charset="0"/>
                <a:cs typeface="Times New Roman" panose="02020603050405020304" pitchFamily="18" charset="0"/>
              </a:rPr>
              <a:t> et al., “Hybrid CNN and NDVI-based land cover change detection,” Remote Sensing Applications, 2025. </a:t>
            </a:r>
          </a:p>
          <a:p>
            <a:pPr lvl="0" algn="just">
              <a:spcBef>
                <a:spcPts val="1635"/>
              </a:spcBef>
              <a:spcAft>
                <a:spcPts val="0"/>
              </a:spcAft>
              <a:buSzPct val="100000"/>
            </a:pPr>
            <a:r>
              <a:rPr lang="en-IN" dirty="0">
                <a:latin typeface="Times New Roman" panose="02020603050405020304" pitchFamily="18" charset="0"/>
                <a:ea typeface="Times New Roman" panose="02020603050405020304" pitchFamily="18" charset="0"/>
                <a:cs typeface="Times New Roman" panose="02020603050405020304" pitchFamily="18" charset="0"/>
              </a:rPr>
              <a:t>[6] M. Aziz et al., “Machine learning approaches for forest monitoring using remote sensing data,” Environmental Data Science, 2024.</a:t>
            </a:r>
          </a:p>
        </p:txBody>
      </p:sp>
    </p:spTree>
    <p:extLst>
      <p:ext uri="{BB962C8B-B14F-4D97-AF65-F5344CB8AC3E}">
        <p14:creationId xmlns:p14="http://schemas.microsoft.com/office/powerpoint/2010/main" val="1375385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532</TotalTime>
  <Words>1891</Words>
  <Application>Microsoft Office PowerPoint</Application>
  <PresentationFormat>Widescreen</PresentationFormat>
  <Paragraphs>188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Unicode MS</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abhay2</dc:creator>
  <cp:lastModifiedBy>JANNU HANS</cp:lastModifiedBy>
  <cp:revision>19</cp:revision>
  <dcterms:created xsi:type="dcterms:W3CDTF">2026-04-23T09:18:11Z</dcterms:created>
  <dcterms:modified xsi:type="dcterms:W3CDTF">2026-05-25T05:27:52Z</dcterms:modified>
</cp:coreProperties>
</file>